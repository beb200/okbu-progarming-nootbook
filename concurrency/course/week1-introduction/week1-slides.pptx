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a0d81a2-5346-6c7e-70f2-80cd2074971e}">
          <p14:sldIdLst>
            <p14:sldId id="256"/>
            <p14:sldId id="257"/>
          </p14:sldIdLst>
        </p14:section>
        <p14:section name="Concepts" id="{6e1f3b8a-8e5d-fc27-51d1-8d137a9e0dc2}">
          <p14:sldIdLst>
            <p14:sldId id="258"/>
            <p14:sldId id="259"/>
            <p14:sldId id="260"/>
            <p14:sldId id="261"/>
            <p14:sldId id="262"/>
          </p14:sldIdLst>
        </p14:section>
        <p14:section name="Race conditions" id="{d29264f6-d49f-f693-1551-efe5b7f93267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Models" id="{dc1f98ea-4f48-e38f-a955-75655061f58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Wrap-up" id="{fbae25fd-b8f3-a62b-3b7b-639726068415}">
          <p14:sldIdLst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Adapted from J. Magee &amp; J. Kramer, Concurrency: State Models &amp; Java Programs, 2nd ed. (Wiley, 2006) and its lecture slides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CS II · Concurrency · Week 1: Introduction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Concurrency, and Why Is It Hard?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Week 1 · Introduction to Concurrency · CS II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to…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-1"/>
          <p:cNvSpPr txBox="1"/>
          <p:nvPr/>
        </p:nvSpPr>
        <p:spPr>
          <a:xfrm>
            <a:off x="54864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-2"/>
          <p:cNvSpPr txBox="1"/>
          <p:nvPr/>
        </p:nvSpPr>
        <p:spPr>
          <a:xfrm>
            <a:off x="1417320" y="1417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Tell sequential from concurrent programs, and concurrency from parallelism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-3"/>
          <p:cNvSpPr txBox="1"/>
          <p:nvPr/>
        </p:nvSpPr>
        <p:spPr>
          <a:xfrm>
            <a:off x="54864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text-4"/>
          <p:cNvSpPr txBox="1"/>
          <p:nvPr/>
        </p:nvSpPr>
        <p:spPr>
          <a:xfrm>
            <a:off x="1417320" y="23317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Give four reasons we write concurrent programs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-5"/>
          <p:cNvSpPr txBox="1"/>
          <p:nvPr/>
        </p:nvSpPr>
        <p:spPr>
          <a:xfrm>
            <a:off x="548640" y="3246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-6"/>
          <p:cNvSpPr txBox="1"/>
          <p:nvPr/>
        </p:nvSpPr>
        <p:spPr>
          <a:xfrm>
            <a:off x="1417320" y="32461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Find every outcome of a small race condition by listing interleavings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-7"/>
          <p:cNvSpPr txBox="1"/>
          <p:nvPr/>
        </p:nvSpPr>
        <p:spPr>
          <a:xfrm>
            <a:off x="548640" y="4160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4" name="text-8"/>
          <p:cNvSpPr txBox="1"/>
          <p:nvPr/>
        </p:nvSpPr>
        <p:spPr>
          <a:xfrm>
            <a:off x="1417320" y="41605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Explain why testing is not enough, and why engineers build models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-9"/>
          <p:cNvSpPr txBox="1"/>
          <p:nvPr/>
        </p:nvSpPr>
        <p:spPr>
          <a:xfrm>
            <a:off x="5486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17" name="text-10"/>
          <p:cNvSpPr txBox="1"/>
          <p:nvPr/>
        </p:nvSpPr>
        <p:spPr>
          <a:xfrm>
            <a:off x="1417320" y="50749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Sketch a state machine as an abstraction of something real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your phone doing right now?</a:t>
            </a:r>
            <a:endParaRPr lang="en-US" sz="3400" dirty="0"/>
          </a:p>
        </p:txBody>
      </p:sp>
      <p:sp>
        <p:nvSpPr>
          <p:cNvPr id="3" name="card-11"/>
          <p:cNvSpPr/>
          <p:nvPr/>
        </p:nvSpPr>
        <p:spPr>
          <a:xfrm>
            <a:off x="548640" y="1463040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-bg-12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822399"/>
            <a:ext cx="332842" cy="332842"/>
          </a:xfrm>
          <a:prstGeom prst="rect">
            <a:avLst/>
          </a:prstGeom>
        </p:spPr>
      </p:pic>
      <p:sp>
        <p:nvSpPr>
          <p:cNvPr id="6" name="text-14"/>
          <p:cNvSpPr txBox="1"/>
          <p:nvPr/>
        </p:nvSpPr>
        <p:spPr>
          <a:xfrm>
            <a:off x="1508760" y="1691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Playing audio</a:t>
            </a:r>
            <a:endParaRPr lang="en-US" sz="1900" dirty="0"/>
          </a:p>
        </p:txBody>
      </p:sp>
      <p:sp>
        <p:nvSpPr>
          <p:cNvPr id="7" name="text-15"/>
          <p:cNvSpPr txBox="1"/>
          <p:nvPr/>
        </p:nvSpPr>
        <p:spPr>
          <a:xfrm>
            <a:off x="777240" y="242316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decoding and sending sound to the speaker, without gaps</a:t>
            </a:r>
            <a:endParaRPr lang="en-US" sz="1600" dirty="0"/>
          </a:p>
        </p:txBody>
      </p:sp>
      <p:sp>
        <p:nvSpPr>
          <p:cNvPr id="8" name="card-16"/>
          <p:cNvSpPr/>
          <p:nvPr/>
        </p:nvSpPr>
        <p:spPr>
          <a:xfrm>
            <a:off x="3364992" y="1463040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-bg-17"/>
          <p:cNvSpPr/>
          <p:nvPr/>
        </p:nvSpPr>
        <p:spPr>
          <a:xfrm>
            <a:off x="3593592" y="16916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1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351" y="1822399"/>
            <a:ext cx="332842" cy="332842"/>
          </a:xfrm>
          <a:prstGeom prst="rect">
            <a:avLst/>
          </a:prstGeom>
        </p:spPr>
      </p:pic>
      <p:sp>
        <p:nvSpPr>
          <p:cNvPr id="11" name="text-19"/>
          <p:cNvSpPr txBox="1"/>
          <p:nvPr/>
        </p:nvSpPr>
        <p:spPr>
          <a:xfrm>
            <a:off x="4325112" y="1691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Downloading</a:t>
            </a:r>
            <a:endParaRPr lang="en-US" sz="1900" dirty="0"/>
          </a:p>
        </p:txBody>
      </p:sp>
      <p:sp>
        <p:nvSpPr>
          <p:cNvPr id="12" name="text-20"/>
          <p:cNvSpPr txBox="1"/>
          <p:nvPr/>
        </p:nvSpPr>
        <p:spPr>
          <a:xfrm>
            <a:off x="3593592" y="242316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fetching the next song or a software update in the background</a:t>
            </a:r>
            <a:endParaRPr lang="en-US" sz="1600" dirty="0"/>
          </a:p>
        </p:txBody>
      </p:sp>
      <p:sp>
        <p:nvSpPr>
          <p:cNvPr id="13" name="card-21"/>
          <p:cNvSpPr/>
          <p:nvPr/>
        </p:nvSpPr>
        <p:spPr>
          <a:xfrm>
            <a:off x="6181344" y="1463040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-bg-22"/>
          <p:cNvSpPr/>
          <p:nvPr/>
        </p:nvSpPr>
        <p:spPr>
          <a:xfrm>
            <a:off x="6409944" y="16916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03" y="1822399"/>
            <a:ext cx="332842" cy="332842"/>
          </a:xfrm>
          <a:prstGeom prst="rect">
            <a:avLst/>
          </a:prstGeom>
        </p:spPr>
      </p:pic>
      <p:sp>
        <p:nvSpPr>
          <p:cNvPr id="16" name="text-24"/>
          <p:cNvSpPr txBox="1"/>
          <p:nvPr/>
        </p:nvSpPr>
        <p:spPr>
          <a:xfrm>
            <a:off x="7141464" y="1691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Notifications</a:t>
            </a:r>
            <a:endParaRPr lang="en-US" sz="1900" dirty="0"/>
          </a:p>
        </p:txBody>
      </p:sp>
      <p:sp>
        <p:nvSpPr>
          <p:cNvPr id="17" name="text-25"/>
          <p:cNvSpPr txBox="1"/>
          <p:nvPr/>
        </p:nvSpPr>
        <p:spPr>
          <a:xfrm>
            <a:off x="6409944" y="242316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listening for messages from many apps at once</a:t>
            </a:r>
            <a:endParaRPr lang="en-US" sz="1600" dirty="0"/>
          </a:p>
        </p:txBody>
      </p:sp>
      <p:sp>
        <p:nvSpPr>
          <p:cNvPr id="18" name="card-26"/>
          <p:cNvSpPr/>
          <p:nvPr/>
        </p:nvSpPr>
        <p:spPr>
          <a:xfrm>
            <a:off x="8997696" y="1463040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-bg-27"/>
          <p:cNvSpPr/>
          <p:nvPr/>
        </p:nvSpPr>
        <p:spPr>
          <a:xfrm>
            <a:off x="9226296" y="16916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2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055" y="1822399"/>
            <a:ext cx="332842" cy="332842"/>
          </a:xfrm>
          <a:prstGeom prst="rect">
            <a:avLst/>
          </a:prstGeom>
        </p:spPr>
      </p:pic>
      <p:sp>
        <p:nvSpPr>
          <p:cNvPr id="21" name="text-29"/>
          <p:cNvSpPr txBox="1"/>
          <p:nvPr/>
        </p:nvSpPr>
        <p:spPr>
          <a:xfrm>
            <a:off x="9957816" y="16916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Your taps</a:t>
            </a:r>
            <a:endParaRPr lang="en-US" sz="1900" dirty="0"/>
          </a:p>
        </p:txBody>
      </p:sp>
      <p:sp>
        <p:nvSpPr>
          <p:cNvPr id="22" name="text-30"/>
          <p:cNvSpPr txBox="1"/>
          <p:nvPr/>
        </p:nvSpPr>
        <p:spPr>
          <a:xfrm>
            <a:off x="9226296" y="2423160"/>
            <a:ext cx="2148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responding instantly, even while everything else runs</a:t>
            </a:r>
            <a:endParaRPr lang="en-US" sz="1600" dirty="0"/>
          </a:p>
        </p:txBody>
      </p:sp>
      <p:sp>
        <p:nvSpPr>
          <p:cNvPr id="23" name="text-31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Each activity is a thread of control. They are all in progress at the same time.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Sequential vs concurrent programs</a:t>
            </a:r>
            <a:endParaRPr lang="en-US" sz="3400" dirty="0"/>
          </a:p>
        </p:txBody>
      </p:sp>
      <p:sp>
        <p:nvSpPr>
          <p:cNvPr id="3" name="text-32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Sequential</a:t>
            </a:r>
            <a:endParaRPr lang="en-US" sz="2400" dirty="0"/>
          </a:p>
        </p:txBody>
      </p:sp>
      <p:sp>
        <p:nvSpPr>
          <p:cNvPr id="4" name="text-33"/>
          <p:cNvSpPr txBox="1"/>
          <p:nvPr/>
        </p:nvSpPr>
        <p:spPr>
          <a:xfrm>
            <a:off x="548640" y="18745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single thread of control: at any moment, exactly one "current line".</a:t>
            </a:r>
            <a:endParaRPr lang="en-US" sz="1800" dirty="0"/>
          </a:p>
        </p:txBody>
      </p:sp>
      <p:sp>
        <p:nvSpPr>
          <p:cNvPr id="5" name="rect-34"/>
          <p:cNvSpPr/>
          <p:nvPr/>
        </p:nvSpPr>
        <p:spPr>
          <a:xfrm>
            <a:off x="2560320" y="2743200"/>
            <a:ext cx="1097280" cy="3657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rect-35"/>
          <p:cNvSpPr/>
          <p:nvPr/>
        </p:nvSpPr>
        <p:spPr>
          <a:xfrm>
            <a:off x="2560320" y="3246120"/>
            <a:ext cx="1097280" cy="3657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rect-36"/>
          <p:cNvSpPr/>
          <p:nvPr/>
        </p:nvSpPr>
        <p:spPr>
          <a:xfrm>
            <a:off x="2560320" y="3749040"/>
            <a:ext cx="1097280" cy="3657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rect-37"/>
          <p:cNvSpPr/>
          <p:nvPr/>
        </p:nvSpPr>
        <p:spPr>
          <a:xfrm>
            <a:off x="2560320" y="4251960"/>
            <a:ext cx="1097280" cy="3657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rect-38"/>
          <p:cNvSpPr/>
          <p:nvPr/>
        </p:nvSpPr>
        <p:spPr>
          <a:xfrm>
            <a:off x="2560320" y="4754880"/>
            <a:ext cx="1097280" cy="3657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rect-39"/>
          <p:cNvSpPr/>
          <p:nvPr/>
        </p:nvSpPr>
        <p:spPr>
          <a:xfrm>
            <a:off x="2560320" y="5257800"/>
            <a:ext cx="1097280" cy="36576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line-40"/>
          <p:cNvSpPr/>
          <p:nvPr/>
        </p:nvSpPr>
        <p:spPr>
          <a:xfrm>
            <a:off x="2286000" y="2743200"/>
            <a:ext cx="914" cy="292608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text-41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Concurrent</a:t>
            </a:r>
            <a:endParaRPr lang="en-US" sz="2400" dirty="0"/>
          </a:p>
        </p:txBody>
      </p:sp>
      <p:sp>
        <p:nvSpPr>
          <p:cNvPr id="13" name="text-42"/>
          <p:cNvSpPr txBox="1"/>
          <p:nvPr/>
        </p:nvSpPr>
        <p:spPr>
          <a:xfrm>
            <a:off x="6309360" y="18745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Multiple threads of control, all in progress at once, often sharing data.</a:t>
            </a:r>
            <a:endParaRPr lang="en-US" sz="1800" dirty="0"/>
          </a:p>
        </p:txBody>
      </p:sp>
      <p:sp>
        <p:nvSpPr>
          <p:cNvPr id="14" name="line-43"/>
          <p:cNvSpPr/>
          <p:nvPr/>
        </p:nvSpPr>
        <p:spPr>
          <a:xfrm>
            <a:off x="6583680" y="2743200"/>
            <a:ext cx="914" cy="292608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rect-44"/>
          <p:cNvSpPr/>
          <p:nvPr/>
        </p:nvSpPr>
        <p:spPr>
          <a:xfrm>
            <a:off x="6858000" y="274320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rect-45"/>
          <p:cNvSpPr/>
          <p:nvPr/>
        </p:nvSpPr>
        <p:spPr>
          <a:xfrm>
            <a:off x="6858000" y="374904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rect-46"/>
          <p:cNvSpPr/>
          <p:nvPr/>
        </p:nvSpPr>
        <p:spPr>
          <a:xfrm>
            <a:off x="6858000" y="475488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line-47"/>
          <p:cNvSpPr/>
          <p:nvPr/>
        </p:nvSpPr>
        <p:spPr>
          <a:xfrm>
            <a:off x="8229600" y="2743200"/>
            <a:ext cx="914" cy="292608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9" name="rect-48"/>
          <p:cNvSpPr/>
          <p:nvPr/>
        </p:nvSpPr>
        <p:spPr>
          <a:xfrm>
            <a:off x="8503920" y="324612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rect-49"/>
          <p:cNvSpPr/>
          <p:nvPr/>
        </p:nvSpPr>
        <p:spPr>
          <a:xfrm>
            <a:off x="8503920" y="425196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rect-50"/>
          <p:cNvSpPr/>
          <p:nvPr/>
        </p:nvSpPr>
        <p:spPr>
          <a:xfrm>
            <a:off x="8503920" y="525780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line-51"/>
          <p:cNvSpPr/>
          <p:nvPr/>
        </p:nvSpPr>
        <p:spPr>
          <a:xfrm>
            <a:off x="9875520" y="2743200"/>
            <a:ext cx="914" cy="292608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rect-52"/>
          <p:cNvSpPr/>
          <p:nvPr/>
        </p:nvSpPr>
        <p:spPr>
          <a:xfrm>
            <a:off x="10149840" y="274320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rect-53"/>
          <p:cNvSpPr/>
          <p:nvPr/>
        </p:nvSpPr>
        <p:spPr>
          <a:xfrm>
            <a:off x="10149840" y="374904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rect-54"/>
          <p:cNvSpPr/>
          <p:nvPr/>
        </p:nvSpPr>
        <p:spPr>
          <a:xfrm>
            <a:off x="10149840" y="4754880"/>
            <a:ext cx="91440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-55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Definitions: Magee &amp; Kramer [MK06], ch.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Concurrency is not parallelism</a:t>
            </a:r>
            <a:endParaRPr lang="en-US" sz="3400" dirty="0"/>
          </a:p>
        </p:txBody>
      </p:sp>
      <p:sp>
        <p:nvSpPr>
          <p:cNvPr id="3" name="text-56"/>
          <p:cNvSpPr txBox="1"/>
          <p:nvPr/>
        </p:nvSpPr>
        <p:spPr>
          <a:xfrm>
            <a:off x="548640" y="1417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One core: concurrency by interleaving</a:t>
            </a:r>
            <a:endParaRPr lang="en-US" sz="1900" dirty="0"/>
          </a:p>
        </p:txBody>
      </p:sp>
      <p:sp>
        <p:nvSpPr>
          <p:cNvPr id="4" name="text-57"/>
          <p:cNvSpPr txBox="1"/>
          <p:nvPr/>
        </p:nvSpPr>
        <p:spPr>
          <a:xfrm>
            <a:off x="548640" y="19659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core 1</a:t>
            </a:r>
            <a:endParaRPr lang="en-US" sz="1500" dirty="0"/>
          </a:p>
        </p:txBody>
      </p:sp>
      <p:sp>
        <p:nvSpPr>
          <p:cNvPr id="5" name="rect-58"/>
          <p:cNvSpPr/>
          <p:nvPr/>
        </p:nvSpPr>
        <p:spPr>
          <a:xfrm>
            <a:off x="1463040" y="196596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59"/>
          <p:cNvSpPr txBox="1"/>
          <p:nvPr/>
        </p:nvSpPr>
        <p:spPr>
          <a:xfrm>
            <a:off x="1554480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7" name="rect-60"/>
          <p:cNvSpPr/>
          <p:nvPr/>
        </p:nvSpPr>
        <p:spPr>
          <a:xfrm>
            <a:off x="2029968" y="196596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61"/>
          <p:cNvSpPr txBox="1"/>
          <p:nvPr/>
        </p:nvSpPr>
        <p:spPr>
          <a:xfrm>
            <a:off x="2121408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9" name="rect-62"/>
          <p:cNvSpPr/>
          <p:nvPr/>
        </p:nvSpPr>
        <p:spPr>
          <a:xfrm>
            <a:off x="2596896" y="1965960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-63"/>
          <p:cNvSpPr txBox="1"/>
          <p:nvPr/>
        </p:nvSpPr>
        <p:spPr>
          <a:xfrm>
            <a:off x="2688336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1" name="rect-64"/>
          <p:cNvSpPr/>
          <p:nvPr/>
        </p:nvSpPr>
        <p:spPr>
          <a:xfrm>
            <a:off x="3163824" y="1965960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65"/>
          <p:cNvSpPr txBox="1"/>
          <p:nvPr/>
        </p:nvSpPr>
        <p:spPr>
          <a:xfrm>
            <a:off x="3255264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rect-66"/>
          <p:cNvSpPr/>
          <p:nvPr/>
        </p:nvSpPr>
        <p:spPr>
          <a:xfrm>
            <a:off x="3730752" y="196596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67"/>
          <p:cNvSpPr txBox="1"/>
          <p:nvPr/>
        </p:nvSpPr>
        <p:spPr>
          <a:xfrm>
            <a:off x="3822192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5" name="rect-68"/>
          <p:cNvSpPr/>
          <p:nvPr/>
        </p:nvSpPr>
        <p:spPr>
          <a:xfrm>
            <a:off x="4297680" y="1965960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69"/>
          <p:cNvSpPr txBox="1"/>
          <p:nvPr/>
        </p:nvSpPr>
        <p:spPr>
          <a:xfrm>
            <a:off x="4389120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7" name="rect-70"/>
          <p:cNvSpPr/>
          <p:nvPr/>
        </p:nvSpPr>
        <p:spPr>
          <a:xfrm>
            <a:off x="4864608" y="196596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71"/>
          <p:cNvSpPr txBox="1"/>
          <p:nvPr/>
        </p:nvSpPr>
        <p:spPr>
          <a:xfrm>
            <a:off x="4956048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9" name="rect-72"/>
          <p:cNvSpPr/>
          <p:nvPr/>
        </p:nvSpPr>
        <p:spPr>
          <a:xfrm>
            <a:off x="5431536" y="196596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73"/>
          <p:cNvSpPr txBox="1"/>
          <p:nvPr/>
        </p:nvSpPr>
        <p:spPr>
          <a:xfrm>
            <a:off x="5522976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21" name="rect-74"/>
          <p:cNvSpPr/>
          <p:nvPr/>
        </p:nvSpPr>
        <p:spPr>
          <a:xfrm>
            <a:off x="5998464" y="1965960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-75"/>
          <p:cNvSpPr txBox="1"/>
          <p:nvPr/>
        </p:nvSpPr>
        <p:spPr>
          <a:xfrm>
            <a:off x="6089904" y="20116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23" name="text-76"/>
          <p:cNvSpPr txBox="1"/>
          <p:nvPr/>
        </p:nvSpPr>
        <p:spPr>
          <a:xfrm>
            <a:off x="548640" y="2834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Two cores: parallelism</a:t>
            </a:r>
            <a:endParaRPr lang="en-US" sz="1900" dirty="0"/>
          </a:p>
        </p:txBody>
      </p:sp>
      <p:sp>
        <p:nvSpPr>
          <p:cNvPr id="24" name="text-77"/>
          <p:cNvSpPr txBox="1"/>
          <p:nvPr/>
        </p:nvSpPr>
        <p:spPr>
          <a:xfrm>
            <a:off x="548640" y="3383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core 1</a:t>
            </a:r>
            <a:endParaRPr lang="en-US" sz="1500" dirty="0"/>
          </a:p>
        </p:txBody>
      </p:sp>
      <p:sp>
        <p:nvSpPr>
          <p:cNvPr id="25" name="rect-78"/>
          <p:cNvSpPr/>
          <p:nvPr/>
        </p:nvSpPr>
        <p:spPr>
          <a:xfrm>
            <a:off x="1463040" y="338328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-79"/>
          <p:cNvSpPr txBox="1"/>
          <p:nvPr/>
        </p:nvSpPr>
        <p:spPr>
          <a:xfrm>
            <a:off x="1554480" y="342900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27" name="rect-80"/>
          <p:cNvSpPr/>
          <p:nvPr/>
        </p:nvSpPr>
        <p:spPr>
          <a:xfrm>
            <a:off x="2029968" y="338328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81"/>
          <p:cNvSpPr txBox="1"/>
          <p:nvPr/>
        </p:nvSpPr>
        <p:spPr>
          <a:xfrm>
            <a:off x="2121408" y="342900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29" name="rect-82"/>
          <p:cNvSpPr/>
          <p:nvPr/>
        </p:nvSpPr>
        <p:spPr>
          <a:xfrm>
            <a:off x="2596896" y="338328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83"/>
          <p:cNvSpPr txBox="1"/>
          <p:nvPr/>
        </p:nvSpPr>
        <p:spPr>
          <a:xfrm>
            <a:off x="2688336" y="342900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1" name="rect-84"/>
          <p:cNvSpPr/>
          <p:nvPr/>
        </p:nvSpPr>
        <p:spPr>
          <a:xfrm>
            <a:off x="3163824" y="338328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-85"/>
          <p:cNvSpPr txBox="1"/>
          <p:nvPr/>
        </p:nvSpPr>
        <p:spPr>
          <a:xfrm>
            <a:off x="3255264" y="342900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3" name="rect-86"/>
          <p:cNvSpPr/>
          <p:nvPr/>
        </p:nvSpPr>
        <p:spPr>
          <a:xfrm>
            <a:off x="3730752" y="3383280"/>
            <a:ext cx="530352" cy="4572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-87"/>
          <p:cNvSpPr txBox="1"/>
          <p:nvPr/>
        </p:nvSpPr>
        <p:spPr>
          <a:xfrm>
            <a:off x="3822192" y="342900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5" name="text-88"/>
          <p:cNvSpPr txBox="1"/>
          <p:nvPr/>
        </p:nvSpPr>
        <p:spPr>
          <a:xfrm>
            <a:off x="548640" y="395020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core 2</a:t>
            </a:r>
            <a:endParaRPr lang="en-US" sz="1500" dirty="0"/>
          </a:p>
        </p:txBody>
      </p:sp>
      <p:sp>
        <p:nvSpPr>
          <p:cNvPr id="36" name="rect-89"/>
          <p:cNvSpPr/>
          <p:nvPr/>
        </p:nvSpPr>
        <p:spPr>
          <a:xfrm>
            <a:off x="1463040" y="3950208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-90"/>
          <p:cNvSpPr txBox="1"/>
          <p:nvPr/>
        </p:nvSpPr>
        <p:spPr>
          <a:xfrm>
            <a:off x="1554480" y="39959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8" name="rect-91"/>
          <p:cNvSpPr/>
          <p:nvPr/>
        </p:nvSpPr>
        <p:spPr>
          <a:xfrm>
            <a:off x="2029968" y="3950208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-92"/>
          <p:cNvSpPr txBox="1"/>
          <p:nvPr/>
        </p:nvSpPr>
        <p:spPr>
          <a:xfrm>
            <a:off x="2121408" y="39959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40" name="rect-93"/>
          <p:cNvSpPr/>
          <p:nvPr/>
        </p:nvSpPr>
        <p:spPr>
          <a:xfrm>
            <a:off x="2596896" y="3950208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-94"/>
          <p:cNvSpPr txBox="1"/>
          <p:nvPr/>
        </p:nvSpPr>
        <p:spPr>
          <a:xfrm>
            <a:off x="2688336" y="39959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42" name="rect-95"/>
          <p:cNvSpPr/>
          <p:nvPr/>
        </p:nvSpPr>
        <p:spPr>
          <a:xfrm>
            <a:off x="3163824" y="3950208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text-96"/>
          <p:cNvSpPr txBox="1"/>
          <p:nvPr/>
        </p:nvSpPr>
        <p:spPr>
          <a:xfrm>
            <a:off x="3255264" y="39959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44" name="rect-97"/>
          <p:cNvSpPr/>
          <p:nvPr/>
        </p:nvSpPr>
        <p:spPr>
          <a:xfrm>
            <a:off x="3730752" y="3950208"/>
            <a:ext cx="530352" cy="45720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-98"/>
          <p:cNvSpPr txBox="1"/>
          <p:nvPr/>
        </p:nvSpPr>
        <p:spPr>
          <a:xfrm>
            <a:off x="3822192" y="39959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766560" y="1463040"/>
            <a:ext cx="4873752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-99"/>
          <p:cNvSpPr txBox="1"/>
          <p:nvPr/>
        </p:nvSpPr>
        <p:spPr>
          <a:xfrm>
            <a:off x="7040880" y="169164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“Concurrency is about dealing with lots of things at once. Parallelism is about doing lots of things at once.”</a:t>
            </a:r>
            <a:endParaRPr lang="en-US" sz="18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Rob Pike, 2012</a:t>
            </a:r>
            <a:endParaRPr lang="en-US" sz="1800" dirty="0"/>
          </a:p>
        </p:txBody>
      </p:sp>
      <p:sp>
        <p:nvSpPr>
          <p:cNvPr id="48" name="text-100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 concurrent design must be correct under every interleaving, on one core or many.</a:t>
            </a:r>
            <a:endParaRPr lang="en-US" sz="2000" dirty="0"/>
          </a:p>
        </p:txBody>
      </p:sp>
      <p:sp>
        <p:nvSpPr>
          <p:cNvPr id="49" name="text-101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Pike, “Concurrency is not parallelism,” Heroku Waza, 2012 [Pik12]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 concurrent parts interact?</a:t>
            </a:r>
            <a:endParaRPr lang="en-US" sz="3400" dirty="0"/>
          </a:p>
        </p:txBody>
      </p:sp>
      <p:sp>
        <p:nvSpPr>
          <p:cNvPr id="3" name="text-102"/>
          <p:cNvSpPr txBox="1"/>
          <p:nvPr/>
        </p:nvSpPr>
        <p:spPr>
          <a:xfrm>
            <a:off x="54864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One machine → shared memory</a:t>
            </a:r>
            <a:endParaRPr lang="en-US" sz="2200" dirty="0"/>
          </a:p>
        </p:txBody>
      </p:sp>
      <p:sp>
        <p:nvSpPr>
          <p:cNvPr id="4" name="rect-103"/>
          <p:cNvSpPr/>
          <p:nvPr/>
        </p:nvSpPr>
        <p:spPr>
          <a:xfrm>
            <a:off x="822960" y="2148840"/>
            <a:ext cx="128016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04"/>
          <p:cNvSpPr txBox="1"/>
          <p:nvPr/>
        </p:nvSpPr>
        <p:spPr>
          <a:xfrm>
            <a:off x="91440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thread 1</a:t>
            </a:r>
            <a:endParaRPr lang="en-US" sz="1600" dirty="0"/>
          </a:p>
        </p:txBody>
      </p:sp>
      <p:sp>
        <p:nvSpPr>
          <p:cNvPr id="6" name="rect-105"/>
          <p:cNvSpPr/>
          <p:nvPr/>
        </p:nvSpPr>
        <p:spPr>
          <a:xfrm>
            <a:off x="2468880" y="2148840"/>
            <a:ext cx="128016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-106"/>
          <p:cNvSpPr txBox="1"/>
          <p:nvPr/>
        </p:nvSpPr>
        <p:spPr>
          <a:xfrm>
            <a:off x="256032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thread 2</a:t>
            </a:r>
            <a:endParaRPr lang="en-US" sz="1600" dirty="0"/>
          </a:p>
        </p:txBody>
      </p:sp>
      <p:sp>
        <p:nvSpPr>
          <p:cNvPr id="8" name="rect-107"/>
          <p:cNvSpPr/>
          <p:nvPr/>
        </p:nvSpPr>
        <p:spPr>
          <a:xfrm>
            <a:off x="4114800" y="2148840"/>
            <a:ext cx="128016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108"/>
          <p:cNvSpPr txBox="1"/>
          <p:nvPr/>
        </p:nvSpPr>
        <p:spPr>
          <a:xfrm>
            <a:off x="42062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thread 3</a:t>
            </a:r>
            <a:endParaRPr lang="en-US" sz="1600" dirty="0"/>
          </a:p>
        </p:txBody>
      </p:sp>
      <p:sp>
        <p:nvSpPr>
          <p:cNvPr id="10" name="rect-109"/>
          <p:cNvSpPr/>
          <p:nvPr/>
        </p:nvSpPr>
        <p:spPr>
          <a:xfrm>
            <a:off x="822960" y="3794760"/>
            <a:ext cx="4572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110"/>
          <p:cNvSpPr txBox="1"/>
          <p:nvPr/>
        </p:nvSpPr>
        <p:spPr>
          <a:xfrm>
            <a:off x="914400" y="3840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shared variables (heap)</a:t>
            </a:r>
            <a:endParaRPr lang="en-US" sz="1800" dirty="0"/>
          </a:p>
        </p:txBody>
      </p:sp>
      <p:sp>
        <p:nvSpPr>
          <p:cNvPr id="12" name="line-111"/>
          <p:cNvSpPr/>
          <p:nvPr/>
        </p:nvSpPr>
        <p:spPr>
          <a:xfrm>
            <a:off x="1463040" y="2834640"/>
            <a:ext cx="914" cy="9144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line-112"/>
          <p:cNvSpPr/>
          <p:nvPr/>
        </p:nvSpPr>
        <p:spPr>
          <a:xfrm>
            <a:off x="3108960" y="2834640"/>
            <a:ext cx="914" cy="9144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line-113"/>
          <p:cNvSpPr/>
          <p:nvPr/>
        </p:nvSpPr>
        <p:spPr>
          <a:xfrm>
            <a:off x="4754880" y="2834640"/>
            <a:ext cx="914" cy="9144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text-114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read and write the same data</a:t>
            </a:r>
            <a:endParaRPr lang="en-US" sz="1600" dirty="0"/>
          </a:p>
        </p:txBody>
      </p:sp>
      <p:sp>
        <p:nvSpPr>
          <p:cNvPr id="16" name="text-115"/>
          <p:cNvSpPr txBox="1"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Many machines → messages</a:t>
            </a:r>
            <a:endParaRPr lang="en-US" sz="2200" dirty="0"/>
          </a:p>
        </p:txBody>
      </p:sp>
      <p:sp>
        <p:nvSpPr>
          <p:cNvPr id="17" name="icon-bg-116"/>
          <p:cNvSpPr/>
          <p:nvPr/>
        </p:nvSpPr>
        <p:spPr>
          <a:xfrm>
            <a:off x="6675120" y="2148840"/>
            <a:ext cx="1005840" cy="10058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-11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6405" y="2370125"/>
            <a:ext cx="563270" cy="563270"/>
          </a:xfrm>
          <a:prstGeom prst="rect">
            <a:avLst/>
          </a:prstGeom>
        </p:spPr>
      </p:pic>
      <p:sp>
        <p:nvSpPr>
          <p:cNvPr id="19" name="icon-bg-118"/>
          <p:cNvSpPr/>
          <p:nvPr/>
        </p:nvSpPr>
        <p:spPr>
          <a:xfrm>
            <a:off x="10332720" y="2148840"/>
            <a:ext cx="1005840" cy="10058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icon-11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005" y="2370125"/>
            <a:ext cx="563270" cy="563270"/>
          </a:xfrm>
          <a:prstGeom prst="rect">
            <a:avLst/>
          </a:prstGeom>
        </p:spPr>
      </p:pic>
      <p:sp>
        <p:nvSpPr>
          <p:cNvPr id="21" name="icon-bg-120"/>
          <p:cNvSpPr/>
          <p:nvPr/>
        </p:nvSpPr>
        <p:spPr>
          <a:xfrm>
            <a:off x="8503920" y="3840480"/>
            <a:ext cx="1005840" cy="10058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2" name="icon-12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5205" y="4061765"/>
            <a:ext cx="563270" cy="563270"/>
          </a:xfrm>
          <a:prstGeom prst="rect">
            <a:avLst/>
          </a:prstGeom>
        </p:spPr>
      </p:pic>
      <p:sp>
        <p:nvSpPr>
          <p:cNvPr id="23" name="line-122"/>
          <p:cNvSpPr/>
          <p:nvPr/>
        </p:nvSpPr>
        <p:spPr>
          <a:xfrm>
            <a:off x="7772400" y="2651760"/>
            <a:ext cx="246888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4" name="line-123"/>
          <p:cNvSpPr/>
          <p:nvPr/>
        </p:nvSpPr>
        <p:spPr>
          <a:xfrm flipH="1">
            <a:off x="9464040" y="3200400"/>
            <a:ext cx="1051560" cy="77724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5" name="line-124"/>
          <p:cNvSpPr/>
          <p:nvPr/>
        </p:nvSpPr>
        <p:spPr>
          <a:xfrm flipH="1" flipV="1">
            <a:off x="7315200" y="3200400"/>
            <a:ext cx="1188720" cy="91440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6" name="text-125"/>
          <p:cNvSpPr txBox="1"/>
          <p:nvPr/>
        </p:nvSpPr>
        <p:spPr>
          <a:xfrm>
            <a:off x="6400800" y="4983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send and receive over a network</a:t>
            </a:r>
            <a:endParaRPr lang="en-US" sz="1600" dirty="0"/>
          </a:p>
        </p:txBody>
      </p:sp>
      <p:sp>
        <p:nvSpPr>
          <p:cNvPr id="27" name="text-126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Magee &amp; Kramer [MK06], ch. 1. This module focuses on shared memory.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write concurrent programs?</a:t>
            </a:r>
            <a:endParaRPr lang="en-US" sz="3400" dirty="0"/>
          </a:p>
        </p:txBody>
      </p:sp>
      <p:sp>
        <p:nvSpPr>
          <p:cNvPr id="3" name="card-127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-bg-128"/>
          <p:cNvSpPr/>
          <p:nvPr/>
        </p:nvSpPr>
        <p:spPr>
          <a:xfrm>
            <a:off x="77724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1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730959"/>
            <a:ext cx="332842" cy="332842"/>
          </a:xfrm>
          <a:prstGeom prst="rect">
            <a:avLst/>
          </a:prstGeom>
        </p:spPr>
      </p:pic>
      <p:sp>
        <p:nvSpPr>
          <p:cNvPr id="6" name="text-130"/>
          <p:cNvSpPr txBox="1"/>
          <p:nvPr/>
        </p:nvSpPr>
        <p:spPr>
          <a:xfrm>
            <a:off x="1508760" y="16002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Performance</a:t>
            </a:r>
            <a:endParaRPr lang="en-US" sz="1900" dirty="0"/>
          </a:p>
        </p:txBody>
      </p:sp>
      <p:sp>
        <p:nvSpPr>
          <p:cNvPr id="7" name="text-131"/>
          <p:cNvSpPr txBox="1"/>
          <p:nvPr/>
        </p:nvSpPr>
        <p:spPr>
          <a:xfrm>
            <a:off x="777240" y="233172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Chips now add cores instead of speed. One sequential program uses one core [Sut05].</a:t>
            </a:r>
            <a:endParaRPr lang="en-US" sz="1700" dirty="0"/>
          </a:p>
        </p:txBody>
      </p:sp>
      <p:sp>
        <p:nvSpPr>
          <p:cNvPr id="8" name="card-132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-bg-133"/>
          <p:cNvSpPr/>
          <p:nvPr/>
        </p:nvSpPr>
        <p:spPr>
          <a:xfrm>
            <a:off x="6400800" y="160020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-13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559" y="1730959"/>
            <a:ext cx="332842" cy="332842"/>
          </a:xfrm>
          <a:prstGeom prst="rect">
            <a:avLst/>
          </a:prstGeom>
        </p:spPr>
      </p:pic>
      <p:sp>
        <p:nvSpPr>
          <p:cNvPr id="11" name="text-135"/>
          <p:cNvSpPr txBox="1"/>
          <p:nvPr/>
        </p:nvSpPr>
        <p:spPr>
          <a:xfrm>
            <a:off x="7132320" y="16002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Throughput</a:t>
            </a:r>
            <a:endParaRPr lang="en-US" sz="1900" dirty="0"/>
          </a:p>
        </p:txBody>
      </p:sp>
      <p:sp>
        <p:nvSpPr>
          <p:cNvPr id="12" name="text-136"/>
          <p:cNvSpPr txBox="1"/>
          <p:nvPr/>
        </p:nvSpPr>
        <p:spPr>
          <a:xfrm>
            <a:off x="6400800" y="233172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While one task waits for the network or disk, others make progress.</a:t>
            </a:r>
            <a:endParaRPr lang="en-US" sz="1700" dirty="0"/>
          </a:p>
        </p:txBody>
      </p:sp>
      <p:sp>
        <p:nvSpPr>
          <p:cNvPr id="13" name="card-137"/>
          <p:cNvSpPr/>
          <p:nvPr/>
        </p:nvSpPr>
        <p:spPr>
          <a:xfrm>
            <a:off x="548640" y="3703320"/>
            <a:ext cx="544068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-bg-138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1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4062679"/>
            <a:ext cx="332842" cy="332842"/>
          </a:xfrm>
          <a:prstGeom prst="rect">
            <a:avLst/>
          </a:prstGeom>
        </p:spPr>
      </p:pic>
      <p:sp>
        <p:nvSpPr>
          <p:cNvPr id="16" name="text-140"/>
          <p:cNvSpPr txBox="1"/>
          <p:nvPr/>
        </p:nvSpPr>
        <p:spPr>
          <a:xfrm>
            <a:off x="1508760" y="39319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Responsiveness</a:t>
            </a:r>
            <a:endParaRPr lang="en-US" sz="1900" dirty="0"/>
          </a:p>
        </p:txBody>
      </p:sp>
      <p:sp>
        <p:nvSpPr>
          <p:cNvPr id="17" name="text-141"/>
          <p:cNvSpPr txBox="1"/>
          <p:nvPr/>
        </p:nvSpPr>
        <p:spPr>
          <a:xfrm>
            <a:off x="777240" y="466344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app keeps reacting to the user while slow work runs in the background.</a:t>
            </a:r>
            <a:endParaRPr lang="en-US" sz="1700" dirty="0"/>
          </a:p>
        </p:txBody>
      </p:sp>
      <p:sp>
        <p:nvSpPr>
          <p:cNvPr id="18" name="card-142"/>
          <p:cNvSpPr/>
          <p:nvPr/>
        </p:nvSpPr>
        <p:spPr>
          <a:xfrm>
            <a:off x="6172200" y="3703320"/>
            <a:ext cx="544068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icon-bg-143"/>
          <p:cNvSpPr/>
          <p:nvPr/>
        </p:nvSpPr>
        <p:spPr>
          <a:xfrm>
            <a:off x="6400800" y="39319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on-14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1559" y="4062679"/>
            <a:ext cx="332842" cy="332842"/>
          </a:xfrm>
          <a:prstGeom prst="rect">
            <a:avLst/>
          </a:prstGeom>
        </p:spPr>
      </p:pic>
      <p:sp>
        <p:nvSpPr>
          <p:cNvPr id="21" name="text-145"/>
          <p:cNvSpPr txBox="1"/>
          <p:nvPr/>
        </p:nvSpPr>
        <p:spPr>
          <a:xfrm>
            <a:off x="7132320" y="39319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Structure</a:t>
            </a:r>
            <a:endParaRPr lang="en-US" sz="1900" dirty="0"/>
          </a:p>
        </p:txBody>
      </p:sp>
      <p:sp>
        <p:nvSpPr>
          <p:cNvPr id="22" name="text-146"/>
          <p:cNvSpPr txBox="1"/>
          <p:nvPr/>
        </p:nvSpPr>
        <p:spPr>
          <a:xfrm>
            <a:off x="6400800" y="466344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Many independent activities: one thread each is often the clearest design.</a:t>
            </a:r>
            <a:endParaRPr lang="en-US" sz="1700" dirty="0"/>
          </a:p>
        </p:txBody>
      </p:sp>
      <p:sp>
        <p:nvSpPr>
          <p:cNvPr id="23" name="text-147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Adapted from [MK06] ch. 1; Sutter, “The free lunch is over,” Dr. Dobb’s Journal, 2005 [Sut05]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tiny concurrent program</a:t>
            </a:r>
            <a:endParaRPr lang="en-US" sz="3400" dirty="0"/>
          </a:p>
        </p:txBody>
      </p:sp>
      <p:sp>
        <p:nvSpPr>
          <p:cNvPr id="3" name="code-panel-148"/>
          <p:cNvSpPr/>
          <p:nvPr/>
        </p:nvSpPr>
        <p:spPr>
          <a:xfrm>
            <a:off x="548640" y="1463040"/>
            <a:ext cx="6035040" cy="2377440"/>
          </a:xfrm>
          <a:prstGeom prst="roundRect">
            <a:avLst>
              <a:gd name="adj" fmla="val 30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149"/>
          <p:cNvSpPr txBox="1"/>
          <p:nvPr/>
        </p:nvSpPr>
        <p:spPr>
          <a:xfrm>
            <a:off x="731520" y="1600200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0          </a:t>
            </a:r>
            <a:pPr indent="0" marL="0">
              <a:buNone/>
            </a:pPr>
            <a:r>
              <a:rPr lang="en-US" sz="2400" dirty="0">
                <a:solidFill>
                  <a:srgbClr val="8FC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shared variable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 1:   x := x + 1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 2:   x := x - 1</a:t>
            </a:r>
            <a:endParaRPr lang="en-US" sz="2400" dirty="0"/>
          </a:p>
        </p:txBody>
      </p:sp>
      <p:sp>
        <p:nvSpPr>
          <p:cNvPr id="5" name="text-150"/>
          <p:cNvSpPr txBox="1"/>
          <p:nvPr/>
        </p:nvSpPr>
        <p:spPr>
          <a:xfrm>
            <a:off x="548640" y="4114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Both processes run at the same time. What is x at the end?</a:t>
            </a:r>
            <a:endParaRPr lang="en-US" sz="2400" dirty="0"/>
          </a:p>
        </p:txBody>
      </p:sp>
      <p:sp>
        <p:nvSpPr>
          <p:cNvPr id="6" name="rect-151"/>
          <p:cNvSpPr/>
          <p:nvPr/>
        </p:nvSpPr>
        <p:spPr>
          <a:xfrm>
            <a:off x="7132320" y="1463040"/>
            <a:ext cx="4480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152"/>
          <p:cNvSpPr txBox="1"/>
          <p:nvPr/>
        </p:nvSpPr>
        <p:spPr>
          <a:xfrm>
            <a:off x="7223760" y="15087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−1</a:t>
            </a:r>
            <a:endParaRPr lang="en-US" sz="2600" dirty="0"/>
          </a:p>
        </p:txBody>
      </p:sp>
      <p:sp>
        <p:nvSpPr>
          <p:cNvPr id="8" name="rect-153"/>
          <p:cNvSpPr/>
          <p:nvPr/>
        </p:nvSpPr>
        <p:spPr>
          <a:xfrm>
            <a:off x="7132320" y="2542032"/>
            <a:ext cx="4480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154"/>
          <p:cNvSpPr txBox="1"/>
          <p:nvPr/>
        </p:nvSpPr>
        <p:spPr>
          <a:xfrm>
            <a:off x="7223760" y="258775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0</a:t>
            </a:r>
            <a:endParaRPr lang="en-US" sz="2600" dirty="0"/>
          </a:p>
        </p:txBody>
      </p:sp>
      <p:sp>
        <p:nvSpPr>
          <p:cNvPr id="10" name="rect-155"/>
          <p:cNvSpPr/>
          <p:nvPr/>
        </p:nvSpPr>
        <p:spPr>
          <a:xfrm>
            <a:off x="7132320" y="3621024"/>
            <a:ext cx="4480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156"/>
          <p:cNvSpPr txBox="1"/>
          <p:nvPr/>
        </p:nvSpPr>
        <p:spPr>
          <a:xfrm>
            <a:off x="7223760" y="3666744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+1</a:t>
            </a:r>
            <a:endParaRPr lang="en-US" sz="2600" dirty="0"/>
          </a:p>
        </p:txBody>
      </p:sp>
      <p:sp>
        <p:nvSpPr>
          <p:cNvPr id="12" name="rect-157"/>
          <p:cNvSpPr/>
          <p:nvPr/>
        </p:nvSpPr>
        <p:spPr>
          <a:xfrm>
            <a:off x="7132320" y="4700016"/>
            <a:ext cx="44805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-158"/>
          <p:cNvSpPr txBox="1"/>
          <p:nvPr/>
        </p:nvSpPr>
        <p:spPr>
          <a:xfrm>
            <a:off x="7223760" y="4745736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it depends</a:t>
            </a:r>
            <a:endParaRPr lang="en-US" sz="2600" dirty="0"/>
          </a:p>
        </p:txBody>
      </p:sp>
      <p:sp>
        <p:nvSpPr>
          <p:cNvPr id="14" name="text-159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Example from Magee &amp; Kramer [MK06], ch. 1 slides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line, two atomic steps</a:t>
            </a:r>
            <a:endParaRPr lang="en-US" sz="3400" dirty="0"/>
          </a:p>
        </p:txBody>
      </p:sp>
      <p:sp>
        <p:nvSpPr>
          <p:cNvPr id="3" name="rect-160"/>
          <p:cNvSpPr/>
          <p:nvPr/>
        </p:nvSpPr>
        <p:spPr>
          <a:xfrm>
            <a:off x="4937760" y="1554480"/>
            <a:ext cx="2286000" cy="109728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-161"/>
          <p:cNvSpPr txBox="1"/>
          <p:nvPr/>
        </p:nvSpPr>
        <p:spPr>
          <a:xfrm>
            <a:off x="5029200" y="1600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x = 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(shared memory)</a:t>
            </a:r>
            <a:endParaRPr lang="en-US" sz="1800" dirty="0"/>
          </a:p>
        </p:txBody>
      </p:sp>
      <p:sp>
        <p:nvSpPr>
          <p:cNvPr id="5" name="rect-162"/>
          <p:cNvSpPr/>
          <p:nvPr/>
        </p:nvSpPr>
        <p:spPr>
          <a:xfrm>
            <a:off x="1097280" y="3749040"/>
            <a:ext cx="2743200" cy="100584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163"/>
          <p:cNvSpPr txBox="1"/>
          <p:nvPr/>
        </p:nvSpPr>
        <p:spPr>
          <a:xfrm>
            <a:off x="1188720" y="37947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process 1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register r1</a:t>
            </a:r>
            <a:endParaRPr lang="en-US" sz="1800" dirty="0"/>
          </a:p>
        </p:txBody>
      </p:sp>
      <p:sp>
        <p:nvSpPr>
          <p:cNvPr id="7" name="rect-164"/>
          <p:cNvSpPr/>
          <p:nvPr/>
        </p:nvSpPr>
        <p:spPr>
          <a:xfrm>
            <a:off x="8321040" y="3749040"/>
            <a:ext cx="2743200" cy="1005840"/>
          </a:xfrm>
          <a:prstGeom prst="roundRect">
            <a:avLst>
              <a:gd name="adj" fmla="val 727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-165"/>
          <p:cNvSpPr txBox="1"/>
          <p:nvPr/>
        </p:nvSpPr>
        <p:spPr>
          <a:xfrm>
            <a:off x="8412480" y="37947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process 2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register r2</a:t>
            </a:r>
            <a:endParaRPr lang="en-US" sz="1800" dirty="0"/>
          </a:p>
        </p:txBody>
      </p:sp>
      <p:sp>
        <p:nvSpPr>
          <p:cNvPr id="9" name="line-166"/>
          <p:cNvSpPr/>
          <p:nvPr/>
        </p:nvSpPr>
        <p:spPr>
          <a:xfrm flipH="1">
            <a:off x="1737360" y="2103120"/>
            <a:ext cx="3200400" cy="160020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ine-167"/>
          <p:cNvSpPr/>
          <p:nvPr/>
        </p:nvSpPr>
        <p:spPr>
          <a:xfrm flipV="1">
            <a:off x="3291840" y="2697480"/>
            <a:ext cx="1965960" cy="100584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11" name="line-168"/>
          <p:cNvSpPr/>
          <p:nvPr/>
        </p:nvSpPr>
        <p:spPr>
          <a:xfrm>
            <a:off x="7223760" y="2103120"/>
            <a:ext cx="3200400" cy="160020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line-169"/>
          <p:cNvSpPr/>
          <p:nvPr/>
        </p:nvSpPr>
        <p:spPr>
          <a:xfrm flipH="1" flipV="1">
            <a:off x="6903720" y="2697480"/>
            <a:ext cx="1965960" cy="100584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13" name="text-170"/>
          <p:cNvSpPr txBox="1"/>
          <p:nvPr/>
        </p:nvSpPr>
        <p:spPr>
          <a:xfrm>
            <a:off x="146304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R1: r1 = x</a:t>
            </a:r>
            <a:endParaRPr lang="en-US" sz="1600" dirty="0"/>
          </a:p>
        </p:txBody>
      </p:sp>
      <p:sp>
        <p:nvSpPr>
          <p:cNvPr id="14" name="text-171"/>
          <p:cNvSpPr txBox="1"/>
          <p:nvPr/>
        </p:nvSpPr>
        <p:spPr>
          <a:xfrm>
            <a:off x="434340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W1: x = r1 + 1</a:t>
            </a:r>
            <a:endParaRPr lang="en-US" sz="1600" dirty="0"/>
          </a:p>
        </p:txBody>
      </p:sp>
      <p:sp>
        <p:nvSpPr>
          <p:cNvPr id="15" name="text-172"/>
          <p:cNvSpPr txBox="1"/>
          <p:nvPr/>
        </p:nvSpPr>
        <p:spPr>
          <a:xfrm>
            <a:off x="891540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R2: r2 = x</a:t>
            </a:r>
            <a:endParaRPr lang="en-US" sz="1600" dirty="0"/>
          </a:p>
        </p:txBody>
      </p:sp>
      <p:sp>
        <p:nvSpPr>
          <p:cNvPr id="16" name="text-173"/>
          <p:cNvSpPr txBox="1"/>
          <p:nvPr/>
        </p:nvSpPr>
        <p:spPr>
          <a:xfrm>
            <a:off x="603504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W2: x = r2 − 1</a:t>
            </a:r>
            <a:endParaRPr lang="en-US" sz="1600" dirty="0"/>
          </a:p>
        </p:txBody>
      </p:sp>
      <p:sp>
        <p:nvSpPr>
          <p:cNvPr id="17" name="text-174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Each R and W is atomic: it happens completely or not at all. The line x := x + 1 is not.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turn: list the interleavings</a:t>
            </a:r>
            <a:endParaRPr lang="en-US" sz="3400" dirty="0"/>
          </a:p>
        </p:txBody>
      </p:sp>
      <p:sp>
        <p:nvSpPr>
          <p:cNvPr id="3" name="icon-bg-175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con-1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09928"/>
            <a:ext cx="512064" cy="512064"/>
          </a:xfrm>
          <a:prstGeom prst="rect">
            <a:avLst/>
          </a:prstGeom>
        </p:spPr>
      </p:pic>
      <p:sp>
        <p:nvSpPr>
          <p:cNvPr id="5" name="text-177"/>
          <p:cNvSpPr txBox="1"/>
          <p:nvPr/>
        </p:nvSpPr>
        <p:spPr>
          <a:xfrm>
            <a:off x="1691640" y="1508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Pairs · 4 minutes</a:t>
            </a:r>
            <a:endParaRPr lang="en-US" sz="2600" dirty="0"/>
          </a:p>
        </p:txBody>
      </p:sp>
      <p:sp>
        <p:nvSpPr>
          <p:cNvPr id="6" name="bullets-178"/>
          <p:cNvSpPr txBox="1"/>
          <p:nvPr/>
        </p:nvSpPr>
        <p:spPr>
          <a:xfrm>
            <a:off x="548640" y="274320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Process 1 does R1 then W1.  Process 2 does R2 then W2.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Each process keeps its own order (R before W), but the two may interleave in any way.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List every possible order of the four steps.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For each one, work out the final value of x (starting from 0).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b="1" dirty="0">
                <a:solidFill>
                  <a:schemeClr val="tx1"/>
                </a:solidFill>
              </a:rPr>
              <a:t>Finished early? Do it again with both processes running x := x + 1.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interleavings, three different answers</a:t>
            </a:r>
            <a:endParaRPr lang="en-US" sz="3400" dirty="0"/>
          </a:p>
        </p:txBody>
      </p:sp>
      <p:graphicFrame>
        <p:nvGraphicFramePr>
          <p:cNvPr id="12" name="table-1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498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step 1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step 2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step 3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step 4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W2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W1</a:t>
                      </a:r>
                      <a:endParaRPr lang="en-US" sz="19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final x</a:t>
                      </a:r>
                      <a:endParaRPr lang="en-US" sz="19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2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2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2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2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text-180"/>
          <p:cNvSpPr txBox="1"/>
          <p:nvPr/>
        </p:nvSpPr>
        <p:spPr>
          <a:xfrm>
            <a:off x="8412480" y="1463040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Race condition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result depends on the timing of the threads.</a:t>
            </a:r>
            <a:endParaRPr lang="en-US" sz="1800" dirty="0"/>
          </a:p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Non-deterministic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program, same input, different results from run to run.</a:t>
            </a:r>
            <a:endParaRPr lang="en-US" sz="1800" dirty="0"/>
          </a:p>
        </p:txBody>
      </p:sp>
      <p:sp>
        <p:nvSpPr>
          <p:cNvPr id="5" name="text-181"/>
          <p:cNvSpPr txBox="1"/>
          <p:nvPr/>
        </p:nvSpPr>
        <p:spPr>
          <a:xfrm>
            <a:off x="548640" y="47548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Interleaving 2: both processes read 0, so process 1’s write is overwritten. A lost update.</a:t>
            </a:r>
            <a:endParaRPr lang="en-US" sz="1900" dirty="0"/>
          </a:p>
        </p:txBody>
      </p:sp>
      <p:sp>
        <p:nvSpPr>
          <p:cNvPr id="6" name="text-182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Table from Magee &amp; Kramer [MK06], ch. 1 slides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lost likes</a:t>
            </a:r>
            <a:endParaRPr lang="en-US" sz="3400" dirty="0"/>
          </a:p>
        </p:txBody>
      </p:sp>
      <p:sp>
        <p:nvSpPr>
          <p:cNvPr id="3" name="code-panel-183"/>
          <p:cNvSpPr/>
          <p:nvPr/>
        </p:nvSpPr>
        <p:spPr>
          <a:xfrm>
            <a:off x="548640" y="1463040"/>
            <a:ext cx="576072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184"/>
          <p:cNvSpPr txBox="1"/>
          <p:nvPr/>
        </p:nvSpPr>
        <p:spPr>
          <a:xfrm>
            <a:off x="731520" y="160020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volatile int likes = 0;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void like()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likes = likes + 1;  </a:t>
            </a:r>
            <a:pPr indent="0" marL="0">
              <a:buNone/>
            </a:pPr>
            <a:r>
              <a:rPr lang="en-US" sz="1800" dirty="0">
                <a:solidFill>
                  <a:srgbClr val="8FC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not atomic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C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 threads, each calls like()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C9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1,000,000 times</a:t>
            </a:r>
            <a:endParaRPr lang="en-US" sz="1800" dirty="0"/>
          </a:p>
        </p:txBody>
      </p:sp>
      <p:sp>
        <p:nvSpPr>
          <p:cNvPr id="5" name="text-185"/>
          <p:cNvSpPr txBox="1"/>
          <p:nvPr/>
        </p:nvSpPr>
        <p:spPr>
          <a:xfrm>
            <a:off x="548640" y="111556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LikeCounter.java</a:t>
            </a:r>
            <a:endParaRPr lang="en-US" sz="1400" dirty="0"/>
          </a:p>
        </p:txBody>
      </p:sp>
      <p:sp>
        <p:nvSpPr>
          <p:cNvPr id="6" name="text-186"/>
          <p:cNvSpPr txBox="1"/>
          <p:nvPr/>
        </p:nvSpPr>
        <p:spPr>
          <a:xfrm>
            <a:off x="676656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2,000,000</a:t>
            </a:r>
            <a:endParaRPr lang="en-US" sz="4800" dirty="0"/>
          </a:p>
        </p:txBody>
      </p:sp>
      <p:sp>
        <p:nvSpPr>
          <p:cNvPr id="7" name="text-187"/>
          <p:cNvSpPr txBox="1"/>
          <p:nvPr/>
        </p:nvSpPr>
        <p:spPr>
          <a:xfrm>
            <a:off x="6766560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likes expected (2 users × 1,000,000)</a:t>
            </a:r>
            <a:endParaRPr lang="en-US" sz="1500" dirty="0"/>
          </a:p>
        </p:txBody>
      </p:sp>
      <p:sp>
        <p:nvSpPr>
          <p:cNvPr id="8" name="text-188"/>
          <p:cNvSpPr txBox="1"/>
          <p:nvPr/>
        </p:nvSpPr>
        <p:spPr>
          <a:xfrm>
            <a:off x="6766560" y="2880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≈1,050,000</a:t>
            </a:r>
            <a:endParaRPr lang="en-US" sz="4800" dirty="0"/>
          </a:p>
        </p:txBody>
      </p:sp>
      <p:sp>
        <p:nvSpPr>
          <p:cNvPr id="9" name="text-189"/>
          <p:cNvSpPr txBox="1"/>
          <p:nvPr/>
        </p:nvSpPr>
        <p:spPr>
          <a:xfrm>
            <a:off x="6766560" y="38404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likes counted, and different on every run</a:t>
            </a:r>
            <a:endParaRPr lang="en-US" sz="1500" dirty="0"/>
          </a:p>
        </p:txBody>
      </p:sp>
      <p:sp>
        <p:nvSpPr>
          <p:cNvPr id="10" name="text-190"/>
          <p:cNvSpPr txBox="1"/>
          <p:nvPr/>
        </p:nvSpPr>
        <p:spPr>
          <a:xfrm>
            <a:off x="6766560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user: 0 lost</a:t>
            </a:r>
            <a:endParaRPr lang="en-US" sz="3600" dirty="0"/>
          </a:p>
        </p:txBody>
      </p:sp>
      <p:sp>
        <p:nvSpPr>
          <p:cNvPr id="11" name="text-191"/>
          <p:cNvSpPr txBox="1"/>
          <p:nvPr/>
        </p:nvSpPr>
        <p:spPr>
          <a:xfrm>
            <a:off x="6766560" y="52578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no other thread, no interleaving, no race</a:t>
            </a:r>
            <a:endParaRPr lang="en-US" sz="1500" dirty="0"/>
          </a:p>
        </p:txBody>
      </p:sp>
      <p:sp>
        <p:nvSpPr>
          <p:cNvPr id="12" name="text-192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Sample results: 16-core laptop, JDK 25. Run it yourself: LikeCounter in the Maven project week1-introduction/exercises/starter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testing is not enough</a:t>
            </a:r>
            <a:endParaRPr lang="en-US" sz="3400" dirty="0"/>
          </a:p>
        </p:txBody>
      </p:sp>
      <p:sp>
        <p:nvSpPr>
          <p:cNvPr id="3" name="text-193"/>
          <p:cNvSpPr txBox="1"/>
          <p:nvPr/>
        </p:nvSpPr>
        <p:spPr>
          <a:xfrm>
            <a:off x="548640" y="141732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2 + 2 steps</a:t>
            </a:r>
            <a:endParaRPr lang="en-US" sz="2000" dirty="0"/>
          </a:p>
        </p:txBody>
      </p:sp>
      <p:sp>
        <p:nvSpPr>
          <p:cNvPr id="4" name="text-194"/>
          <p:cNvSpPr txBox="1"/>
          <p:nvPr/>
        </p:nvSpPr>
        <p:spPr>
          <a:xfrm>
            <a:off x="3017520" y="14173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5" name="text-195"/>
          <p:cNvSpPr txBox="1"/>
          <p:nvPr/>
        </p:nvSpPr>
        <p:spPr>
          <a:xfrm>
            <a:off x="548640" y="24688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4 + 4 steps</a:t>
            </a:r>
            <a:endParaRPr lang="en-US" sz="2000" dirty="0"/>
          </a:p>
        </p:txBody>
      </p:sp>
      <p:sp>
        <p:nvSpPr>
          <p:cNvPr id="6" name="text-196"/>
          <p:cNvSpPr txBox="1"/>
          <p:nvPr/>
        </p:nvSpPr>
        <p:spPr>
          <a:xfrm>
            <a:off x="3017520" y="2468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7" name="text-197"/>
          <p:cNvSpPr txBox="1"/>
          <p:nvPr/>
        </p:nvSpPr>
        <p:spPr>
          <a:xfrm>
            <a:off x="548640" y="35204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10 + 10 steps</a:t>
            </a:r>
            <a:endParaRPr lang="en-US" sz="2000" dirty="0"/>
          </a:p>
        </p:txBody>
      </p:sp>
      <p:sp>
        <p:nvSpPr>
          <p:cNvPr id="8" name="text-198"/>
          <p:cNvSpPr txBox="1"/>
          <p:nvPr/>
        </p:nvSpPr>
        <p:spPr>
          <a:xfrm>
            <a:off x="301752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184,756</a:t>
            </a:r>
            <a:endParaRPr lang="en-US" sz="3400" dirty="0"/>
          </a:p>
        </p:txBody>
      </p:sp>
      <p:sp>
        <p:nvSpPr>
          <p:cNvPr id="9" name="text-199"/>
          <p:cNvSpPr txBox="1"/>
          <p:nvPr/>
        </p:nvSpPr>
        <p:spPr>
          <a:xfrm>
            <a:off x="548640" y="45720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20 + 20 steps</a:t>
            </a:r>
            <a:endParaRPr lang="en-US" sz="2000" dirty="0"/>
          </a:p>
        </p:txBody>
      </p:sp>
      <p:sp>
        <p:nvSpPr>
          <p:cNvPr id="10" name="text-200"/>
          <p:cNvSpPr txBox="1"/>
          <p:nvPr/>
        </p:nvSpPr>
        <p:spPr>
          <a:xfrm>
            <a:off x="3017520" y="457200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137,846,528,820</a:t>
            </a:r>
            <a:endParaRPr lang="en-US" sz="3800" dirty="0"/>
          </a:p>
        </p:txBody>
      </p:sp>
      <p:sp>
        <p:nvSpPr>
          <p:cNvPr id="11" name="text-201"/>
          <p:cNvSpPr txBox="1"/>
          <p:nvPr/>
        </p:nvSpPr>
        <p:spPr>
          <a:xfrm>
            <a:off x="548640" y="56235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interleavings of two processes</a:t>
            </a:r>
            <a:endParaRPr lang="en-US" sz="1500" dirty="0"/>
          </a:p>
        </p:txBody>
      </p:sp>
      <p:sp>
        <p:nvSpPr>
          <p:cNvPr id="12" name="bullets-202"/>
          <p:cNvSpPr txBox="1"/>
          <p:nvPr/>
        </p:nvSpPr>
        <p:spPr>
          <a:xfrm>
            <a:off x="7680960" y="1554480"/>
            <a:ext cx="39319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The bad interleavings may be rare: a test passes 10,000 times, then fails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They depend on cores, load and compiler: “works on my laptop”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Debugging changes the timing, so the bug hides (a “Heisenbug”)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concurrency goes wrong</a:t>
            </a:r>
            <a:endParaRPr lang="en-US" sz="3400" dirty="0"/>
          </a:p>
        </p:txBody>
      </p:sp>
      <p:sp>
        <p:nvSpPr>
          <p:cNvPr id="3" name="card-203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-bg-204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con-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822399"/>
            <a:ext cx="332842" cy="332842"/>
          </a:xfrm>
          <a:prstGeom prst="rect">
            <a:avLst/>
          </a:prstGeom>
        </p:spPr>
      </p:pic>
      <p:sp>
        <p:nvSpPr>
          <p:cNvPr id="6" name="text-206"/>
          <p:cNvSpPr txBox="1"/>
          <p:nvPr/>
        </p:nvSpPr>
        <p:spPr>
          <a:xfrm>
            <a:off x="1508760" y="16916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Therac-25 · 1985–87</a:t>
            </a:r>
            <a:endParaRPr lang="en-US" sz="1800" dirty="0"/>
          </a:p>
        </p:txBody>
      </p:sp>
      <p:sp>
        <p:nvSpPr>
          <p:cNvPr id="7" name="text-207"/>
          <p:cNvSpPr txBox="1"/>
          <p:nvPr/>
        </p:nvSpPr>
        <p:spPr>
          <a:xfrm>
            <a:off x="777240" y="2423160"/>
            <a:ext cx="30632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Radiation therapy machine gave massive overdoses. A race between operator input and machine set-up was among the causes [LT93].</a:t>
            </a:r>
            <a:endParaRPr lang="en-US" sz="1700" dirty="0"/>
          </a:p>
        </p:txBody>
      </p:sp>
      <p:sp>
        <p:nvSpPr>
          <p:cNvPr id="8" name="card-208"/>
          <p:cNvSpPr/>
          <p:nvPr/>
        </p:nvSpPr>
        <p:spPr>
          <a:xfrm>
            <a:off x="4297680" y="1463040"/>
            <a:ext cx="3520440" cy="402336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-bg-209"/>
          <p:cNvSpPr/>
          <p:nvPr/>
        </p:nvSpPr>
        <p:spPr>
          <a:xfrm>
            <a:off x="4526280" y="16916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-2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822399"/>
            <a:ext cx="332842" cy="332842"/>
          </a:xfrm>
          <a:prstGeom prst="rect">
            <a:avLst/>
          </a:prstGeom>
        </p:spPr>
      </p:pic>
      <p:sp>
        <p:nvSpPr>
          <p:cNvPr id="11" name="text-211"/>
          <p:cNvSpPr txBox="1"/>
          <p:nvPr/>
        </p:nvSpPr>
        <p:spPr>
          <a:xfrm>
            <a:off x="5257800" y="16916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Mars Pathfinder · 1997</a:t>
            </a:r>
            <a:endParaRPr lang="en-US" sz="1800" dirty="0"/>
          </a:p>
        </p:txBody>
      </p:sp>
      <p:sp>
        <p:nvSpPr>
          <p:cNvPr id="12" name="text-212"/>
          <p:cNvSpPr txBox="1"/>
          <p:nvPr/>
        </p:nvSpPr>
        <p:spPr>
          <a:xfrm>
            <a:off x="4526280" y="2423160"/>
            <a:ext cx="30632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Repeated resets on Mars. Priority inversion on a shared lock; fixed by a patch sent from Earth [Ree97].</a:t>
            </a:r>
            <a:endParaRPr lang="en-US" sz="1700" dirty="0"/>
          </a:p>
        </p:txBody>
      </p:sp>
      <p:sp>
        <p:nvSpPr>
          <p:cNvPr id="13" name="card-213"/>
          <p:cNvSpPr/>
          <p:nvPr/>
        </p:nvSpPr>
        <p:spPr>
          <a:xfrm>
            <a:off x="8046720" y="1463040"/>
            <a:ext cx="3520440" cy="4023360"/>
          </a:xfrm>
          <a:prstGeom prst="roundRect">
            <a:avLst>
              <a:gd name="adj" fmla="val 25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icon-bg-214"/>
          <p:cNvSpPr/>
          <p:nvPr/>
        </p:nvSpPr>
        <p:spPr>
          <a:xfrm>
            <a:off x="8275320" y="16916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822399"/>
            <a:ext cx="332842" cy="332842"/>
          </a:xfrm>
          <a:prstGeom prst="rect">
            <a:avLst/>
          </a:prstGeom>
        </p:spPr>
      </p:pic>
      <p:sp>
        <p:nvSpPr>
          <p:cNvPr id="16" name="text-216"/>
          <p:cNvSpPr txBox="1"/>
          <p:nvPr/>
        </p:nvSpPr>
        <p:spPr>
          <a:xfrm>
            <a:off x="9006840" y="16916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Northeast blackout · 2003</a:t>
            </a:r>
            <a:endParaRPr lang="en-US" sz="1800" dirty="0"/>
          </a:p>
        </p:txBody>
      </p:sp>
      <p:sp>
        <p:nvSpPr>
          <p:cNvPr id="17" name="text-217"/>
          <p:cNvSpPr txBox="1"/>
          <p:nvPr/>
        </p:nvSpPr>
        <p:spPr>
          <a:xfrm>
            <a:off x="8275320" y="2423160"/>
            <a:ext cx="30632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About 50 million people lost power. A race condition silenced the control-room alarms [TF04], [Reg04].</a:t>
            </a:r>
            <a:endParaRPr lang="en-US" sz="1700" dirty="0"/>
          </a:p>
        </p:txBody>
      </p:sp>
      <p:sp>
        <p:nvSpPr>
          <p:cNvPr id="18" name="text-218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Leveson &amp; Turner, IEEE Computer, 1993; Reeves, 1997; U.S.–Canada Power System Outage Task Force, 2004. See REFERENCES.md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Engineers model before they build</a:t>
            </a:r>
            <a:endParaRPr lang="en-US" sz="3400" dirty="0"/>
          </a:p>
        </p:txBody>
      </p:sp>
      <p:sp>
        <p:nvSpPr>
          <p:cNvPr id="3" name="icon-bg-219"/>
          <p:cNvSpPr/>
          <p:nvPr/>
        </p:nvSpPr>
        <p:spPr>
          <a:xfrm>
            <a:off x="731520" y="150876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" name="icon-2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630" y="1699870"/>
            <a:ext cx="486461" cy="486461"/>
          </a:xfrm>
          <a:prstGeom prst="rect">
            <a:avLst/>
          </a:prstGeom>
        </p:spPr>
      </p:pic>
      <p:sp>
        <p:nvSpPr>
          <p:cNvPr id="5" name="text-221"/>
          <p:cNvSpPr txBox="1"/>
          <p:nvPr/>
        </p:nvSpPr>
        <p:spPr>
          <a:xfrm>
            <a:off x="1828800" y="15087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Aircraft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wind-tunnel models</a:t>
            </a:r>
            <a:endParaRPr lang="en-US" sz="1800" dirty="0"/>
          </a:p>
        </p:txBody>
      </p:sp>
      <p:sp>
        <p:nvSpPr>
          <p:cNvPr id="6" name="icon-bg-222"/>
          <p:cNvSpPr/>
          <p:nvPr/>
        </p:nvSpPr>
        <p:spPr>
          <a:xfrm>
            <a:off x="731520" y="269748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con-22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630" y="2888590"/>
            <a:ext cx="486461" cy="486461"/>
          </a:xfrm>
          <a:prstGeom prst="rect">
            <a:avLst/>
          </a:prstGeom>
        </p:spPr>
      </p:pic>
      <p:sp>
        <p:nvSpPr>
          <p:cNvPr id="8" name="text-224"/>
          <p:cNvSpPr txBox="1"/>
          <p:nvPr/>
        </p:nvSpPr>
        <p:spPr>
          <a:xfrm>
            <a:off x="1828800" y="26974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Chips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circuit simulation</a:t>
            </a:r>
            <a:endParaRPr lang="en-US" sz="1800" dirty="0"/>
          </a:p>
        </p:txBody>
      </p:sp>
      <p:sp>
        <p:nvSpPr>
          <p:cNvPr id="9" name="icon-bg-225"/>
          <p:cNvSpPr/>
          <p:nvPr/>
        </p:nvSpPr>
        <p:spPr>
          <a:xfrm>
            <a:off x="731520" y="388620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2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630" y="4077310"/>
            <a:ext cx="486461" cy="486461"/>
          </a:xfrm>
          <a:prstGeom prst="rect">
            <a:avLst/>
          </a:prstGeom>
        </p:spPr>
      </p:pic>
      <p:sp>
        <p:nvSpPr>
          <p:cNvPr id="11" name="text-227"/>
          <p:cNvSpPr txBox="1"/>
          <p:nvPr/>
        </p:nvSpPr>
        <p:spPr>
          <a:xfrm>
            <a:off x="1828800" y="38862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Software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state machines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120640" y="1463040"/>
            <a:ext cx="6519672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-228"/>
          <p:cNvSpPr txBox="1"/>
          <p:nvPr/>
        </p:nvSpPr>
        <p:spPr>
          <a:xfrm>
            <a:off x="5394960" y="1691640"/>
            <a:ext cx="6035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model is a simplified, abstract representation of a system, </a:t>
            </a:r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built to answer particular questions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“…computing is all about constructing, manipulating, and reasoning about abstractions.”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Keith Devlin, CACM, 2003</a:t>
            </a:r>
            <a:endParaRPr lang="en-US" sz="1800" dirty="0"/>
          </a:p>
        </p:txBody>
      </p:sp>
      <p:sp>
        <p:nvSpPr>
          <p:cNvPr id="14" name="text-229"/>
          <p:cNvSpPr txBox="1"/>
          <p:nvPr/>
        </p:nvSpPr>
        <p:spPr>
          <a:xfrm>
            <a:off x="548640" y="5303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For concurrency, the aspect we model is the order in which actions can happen.</a:t>
            </a:r>
            <a:endParaRPr lang="en-US" sz="2000" dirty="0"/>
          </a:p>
        </p:txBody>
      </p:sp>
      <p:sp>
        <p:nvSpPr>
          <p:cNvPr id="15" name="text-230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[MK06] ch. 1; Devlin, CACM 46(9), 2003 [Dev03]; see also Kramer, “Is abstraction the key to computing?”, CACM 50(4), 2007 [Kra07]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Abstraction: keep only what matters</a:t>
            </a:r>
            <a:endParaRPr lang="en-US" sz="3400" dirty="0"/>
          </a:p>
        </p:txBody>
      </p:sp>
      <p:sp>
        <p:nvSpPr>
          <p:cNvPr id="3" name="text-231"/>
          <p:cNvSpPr txBox="1"/>
          <p:nvPr/>
        </p:nvSpPr>
        <p:spPr>
          <a:xfrm>
            <a:off x="548640" y="1371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Geographic: accurate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ine-232"/>
          <p:cNvSpPr/>
          <p:nvPr/>
        </p:nvSpPr>
        <p:spPr>
          <a:xfrm>
            <a:off x="914400" y="2377440"/>
            <a:ext cx="822960" cy="640080"/>
          </a:xfrm>
          <a:prstGeom prst="line">
            <a:avLst/>
          </a:prstGeom>
          <a:noFill/>
          <a:ln w="50800">
            <a:solidFill>
              <a:schemeClr val="accent3"/>
            </a:solidFill>
            <a:prstDash val="solid"/>
          </a:ln>
        </p:spPr>
      </p:sp>
      <p:sp>
        <p:nvSpPr>
          <p:cNvPr id="6" name="line-233"/>
          <p:cNvSpPr/>
          <p:nvPr/>
        </p:nvSpPr>
        <p:spPr>
          <a:xfrm flipV="1">
            <a:off x="1737360" y="2834640"/>
            <a:ext cx="457200" cy="182880"/>
          </a:xfrm>
          <a:prstGeom prst="line">
            <a:avLst/>
          </a:prstGeom>
          <a:noFill/>
          <a:ln w="50800">
            <a:solidFill>
              <a:schemeClr val="accent3"/>
            </a:solidFill>
            <a:prstDash val="solid"/>
          </a:ln>
        </p:spPr>
      </p:sp>
      <p:sp>
        <p:nvSpPr>
          <p:cNvPr id="7" name="line-234"/>
          <p:cNvSpPr/>
          <p:nvPr/>
        </p:nvSpPr>
        <p:spPr>
          <a:xfrm>
            <a:off x="2194560" y="2834640"/>
            <a:ext cx="822960" cy="731520"/>
          </a:xfrm>
          <a:prstGeom prst="line">
            <a:avLst/>
          </a:prstGeom>
          <a:noFill/>
          <a:ln w="50800">
            <a:solidFill>
              <a:schemeClr val="accent3"/>
            </a:solidFill>
            <a:prstDash val="solid"/>
          </a:ln>
        </p:spPr>
      </p:sp>
      <p:sp>
        <p:nvSpPr>
          <p:cNvPr id="8" name="line-235"/>
          <p:cNvSpPr/>
          <p:nvPr/>
        </p:nvSpPr>
        <p:spPr>
          <a:xfrm flipV="1">
            <a:off x="3017520" y="3383280"/>
            <a:ext cx="731520" cy="182880"/>
          </a:xfrm>
          <a:prstGeom prst="line">
            <a:avLst/>
          </a:prstGeom>
          <a:noFill/>
          <a:ln w="50800">
            <a:solidFill>
              <a:schemeClr val="accent3"/>
            </a:solidFill>
            <a:prstDash val="solid"/>
          </a:ln>
        </p:spPr>
      </p:sp>
      <p:sp>
        <p:nvSpPr>
          <p:cNvPr id="9" name="line-236"/>
          <p:cNvSpPr/>
          <p:nvPr/>
        </p:nvSpPr>
        <p:spPr>
          <a:xfrm>
            <a:off x="3749040" y="3383280"/>
            <a:ext cx="1371600" cy="822960"/>
          </a:xfrm>
          <a:prstGeom prst="line">
            <a:avLst/>
          </a:prstGeom>
          <a:noFill/>
          <a:ln w="50800">
            <a:solidFill>
              <a:schemeClr val="accent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2104" y="229514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55064" y="293522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12264" y="275234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35224" y="348386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66744" y="330098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38344" y="412394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line-237"/>
          <p:cNvSpPr/>
          <p:nvPr/>
        </p:nvSpPr>
        <p:spPr>
          <a:xfrm flipV="1">
            <a:off x="1188720" y="4023360"/>
            <a:ext cx="731520" cy="73152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17" name="line-238"/>
          <p:cNvSpPr/>
          <p:nvPr/>
        </p:nvSpPr>
        <p:spPr>
          <a:xfrm flipV="1">
            <a:off x="1920240" y="3108960"/>
            <a:ext cx="457200" cy="91440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18" name="line-239"/>
          <p:cNvSpPr/>
          <p:nvPr/>
        </p:nvSpPr>
        <p:spPr>
          <a:xfrm flipV="1">
            <a:off x="2377440" y="2286000"/>
            <a:ext cx="365760" cy="82296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19" name="line-240"/>
          <p:cNvSpPr/>
          <p:nvPr/>
        </p:nvSpPr>
        <p:spPr>
          <a:xfrm flipV="1">
            <a:off x="2743200" y="2103120"/>
            <a:ext cx="548640" cy="182880"/>
          </a:xfrm>
          <a:prstGeom prst="line">
            <a:avLst/>
          </a:prstGeom>
          <a:noFill/>
          <a:ln w="50800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06424" y="467258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37944" y="394106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95144" y="302666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60904" y="220370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9544" y="202082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5" name="line-241"/>
          <p:cNvSpPr/>
          <p:nvPr/>
        </p:nvSpPr>
        <p:spPr>
          <a:xfrm flipV="1">
            <a:off x="3566160" y="4206240"/>
            <a:ext cx="365760" cy="73152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solid"/>
          </a:ln>
        </p:spPr>
      </p:sp>
      <p:sp>
        <p:nvSpPr>
          <p:cNvPr id="26" name="line-242"/>
          <p:cNvSpPr/>
          <p:nvPr/>
        </p:nvSpPr>
        <p:spPr>
          <a:xfrm flipH="1" flipV="1">
            <a:off x="3566160" y="3474720"/>
            <a:ext cx="365760" cy="73152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solid"/>
          </a:ln>
        </p:spPr>
      </p:sp>
      <p:sp>
        <p:nvSpPr>
          <p:cNvPr id="27" name="line-243"/>
          <p:cNvSpPr/>
          <p:nvPr/>
        </p:nvSpPr>
        <p:spPr>
          <a:xfrm flipV="1">
            <a:off x="3566160" y="2651760"/>
            <a:ext cx="640080" cy="82296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solid"/>
          </a:ln>
        </p:spPr>
      </p:sp>
      <p:sp>
        <p:nvSpPr>
          <p:cNvPr id="28" name="line-244"/>
          <p:cNvSpPr/>
          <p:nvPr/>
        </p:nvSpPr>
        <p:spPr>
          <a:xfrm flipV="1">
            <a:off x="4206240" y="2194560"/>
            <a:ext cx="548640" cy="457200"/>
          </a:xfrm>
          <a:prstGeom prst="line">
            <a:avLst/>
          </a:prstGeom>
          <a:noFill/>
          <a:ln w="50800">
            <a:solidFill>
              <a:schemeClr val="accent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3864" y="485546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9624" y="412394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339242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23944" y="256946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72584" y="2112264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4" name="text-245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Schematic: fit for purpose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309360" y="1828800"/>
            <a:ext cx="5330952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line-246"/>
          <p:cNvSpPr/>
          <p:nvPr/>
        </p:nvSpPr>
        <p:spPr>
          <a:xfrm>
            <a:off x="6675120" y="3520440"/>
            <a:ext cx="4572000" cy="914"/>
          </a:xfrm>
          <a:prstGeom prst="line">
            <a:avLst/>
          </a:prstGeom>
          <a:noFill/>
          <a:ln w="63500">
            <a:solidFill>
              <a:schemeClr val="accent3"/>
            </a:solidFill>
            <a:prstDash val="solid"/>
          </a:ln>
        </p:spPr>
      </p:sp>
      <p:sp>
        <p:nvSpPr>
          <p:cNvPr id="37" name="line-247"/>
          <p:cNvSpPr/>
          <p:nvPr/>
        </p:nvSpPr>
        <p:spPr>
          <a:xfrm flipV="1">
            <a:off x="7772400" y="2194560"/>
            <a:ext cx="914" cy="2651760"/>
          </a:xfrm>
          <a:prstGeom prst="line">
            <a:avLst/>
          </a:prstGeom>
          <a:noFill/>
          <a:ln w="63500">
            <a:solidFill>
              <a:schemeClr val="accent1"/>
            </a:solidFill>
            <a:prstDash val="solid"/>
          </a:ln>
        </p:spPr>
      </p:sp>
      <p:sp>
        <p:nvSpPr>
          <p:cNvPr id="38" name="line-248"/>
          <p:cNvSpPr/>
          <p:nvPr/>
        </p:nvSpPr>
        <p:spPr>
          <a:xfrm flipV="1">
            <a:off x="9692640" y="3520440"/>
            <a:ext cx="914" cy="1325880"/>
          </a:xfrm>
          <a:prstGeom prst="line">
            <a:avLst/>
          </a:prstGeom>
          <a:noFill/>
          <a:ln w="63500">
            <a:solidFill>
              <a:schemeClr val="accent2"/>
            </a:solidFill>
            <a:prstDash val="solid"/>
          </a:ln>
        </p:spPr>
      </p:sp>
      <p:sp>
        <p:nvSpPr>
          <p:cNvPr id="39" name="line-249"/>
          <p:cNvSpPr/>
          <p:nvPr/>
        </p:nvSpPr>
        <p:spPr>
          <a:xfrm flipV="1">
            <a:off x="9692640" y="2423160"/>
            <a:ext cx="1097280" cy="1097280"/>
          </a:xfrm>
          <a:prstGeom prst="line">
            <a:avLst/>
          </a:prstGeom>
          <a:noFill/>
          <a:ln w="63500">
            <a:solidFill>
              <a:schemeClr val="accent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0" y="342900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95360" y="342900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155680" y="342900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0" y="475488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80960" y="210312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601200" y="475488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698480" y="2331720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616952" y="3364992"/>
            <a:ext cx="310896" cy="31089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37192" y="3364992"/>
            <a:ext cx="310896" cy="310896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49" name="text-250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Kept: which lines, station order, interchanges.  Dropped: distances, curves, streets.</a:t>
            </a:r>
            <a:endParaRPr lang="en-US" sz="1800" dirty="0"/>
          </a:p>
        </p:txBody>
      </p:sp>
      <p:sp>
        <p:nvSpPr>
          <p:cNvPr id="50" name="text-251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Schematic illustration of the idea behind Harry Beck’s 1933 Underground diagram (Garland, 1994 [Gar94]); not the real map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Fit for purpose: the question decides the model</a:t>
            </a:r>
            <a:endParaRPr lang="en-US" sz="3400" dirty="0"/>
          </a:p>
        </p:txBody>
      </p:sp>
      <p:graphicFrame>
        <p:nvGraphicFramePr>
          <p:cNvPr id="18" name="table-2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114800"/>
                <a:gridCol w="3227832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Question about a ride-share app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Keep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Leave out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What can a driver do next?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driver status: offline, available, en route, on trip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location, fare, ratings, car model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How long until pickup?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positions, speeds, road network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fare, ratings, payment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 the fare right?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distance, time, surge factor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car model, ratings</a:t>
                      </a:r>
                      <a:endParaRPr lang="en-US" sz="18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-253"/>
          <p:cNvSpPr txBox="1"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A good model is not the most detailed one. It is the one that answers the question.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turn: model a ride-share driver</a:t>
            </a:r>
            <a:endParaRPr lang="en-US" sz="3400" dirty="0"/>
          </a:p>
        </p:txBody>
      </p:sp>
      <p:sp>
        <p:nvSpPr>
          <p:cNvPr id="3" name="icon-bg-25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con-2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09928"/>
            <a:ext cx="512064" cy="512064"/>
          </a:xfrm>
          <a:prstGeom prst="rect">
            <a:avLst/>
          </a:prstGeom>
        </p:spPr>
      </p:pic>
      <p:sp>
        <p:nvSpPr>
          <p:cNvPr id="5" name="text-256"/>
          <p:cNvSpPr txBox="1"/>
          <p:nvPr/>
        </p:nvSpPr>
        <p:spPr>
          <a:xfrm>
            <a:off x="1691640" y="1508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Pairs · 6 minutes</a:t>
            </a:r>
            <a:endParaRPr lang="en-US" sz="2600" dirty="0"/>
          </a:p>
        </p:txBody>
      </p:sp>
      <p:sp>
        <p:nvSpPr>
          <p:cNvPr id="6" name="text-257"/>
          <p:cNvSpPr txBox="1"/>
          <p:nvPr/>
        </p:nvSpPr>
        <p:spPr>
          <a:xfrm>
            <a:off x="548640" y="26974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driver can go online or offline. While available, they can accept a ride. They drive to the pickup, where the rider may cancel; otherwise they pick up the rider, drive, and drop them off, and are then available again.</a:t>
            </a:r>
            <a:endParaRPr lang="en-US" sz="2000" dirty="0"/>
          </a:p>
        </p:txBody>
      </p:sp>
      <p:sp>
        <p:nvSpPr>
          <p:cNvPr id="7" name="bullets-258"/>
          <p:cNvSpPr txBox="1"/>
          <p:nvPr/>
        </p:nvSpPr>
        <p:spPr>
          <a:xfrm>
            <a:off x="7680960" y="26974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Circles = states (name them)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Arrows = actions (label them)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Mark the start state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What did you leave out?</a:t>
            </a:r>
            <a:endParaRPr lang="en-US" sz="2000" dirty="0"/>
          </a:p>
        </p:txBody>
      </p:sp>
      <p:sp>
        <p:nvSpPr>
          <p:cNvPr id="8" name="text-259"/>
          <p:cNvSpPr txBox="1"/>
          <p:nvPr/>
        </p:nvSpPr>
        <p:spPr>
          <a:xfrm>
            <a:off x="54864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Hint: about four states are enough.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possible model</a:t>
            </a:r>
            <a:endParaRPr lang="en-US" sz="3400" dirty="0"/>
          </a:p>
        </p:txBody>
      </p:sp>
      <p:pic>
        <p:nvPicPr>
          <p:cNvPr id="3" name="image-260" descr="rideshare-dri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29451"/>
            <a:ext cx="7223760" cy="1381977"/>
          </a:xfrm>
          <a:prstGeom prst="rect">
            <a:avLst/>
          </a:prstGeom>
        </p:spPr>
      </p:pic>
      <p:graphicFrame>
        <p:nvGraphicFramePr>
          <p:cNvPr id="20" name="table-2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463040"/>
          <a:ext cx="350215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5877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state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OFFLINE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AVAILABLE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EN_ROUTE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ON_TRIP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-262"/>
          <p:cNvSpPr txBox="1"/>
          <p:nvPr/>
        </p:nvSpPr>
        <p:spPr>
          <a:xfrm>
            <a:off x="8138160" y="3977640"/>
            <a:ext cx="3502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Can a driver go offline during a trip? Should they be able to?</a:t>
            </a:r>
            <a:endParaRPr lang="en-US" sz="1800" dirty="0"/>
          </a:p>
        </p:txBody>
      </p:sp>
      <p:sp>
        <p:nvSpPr>
          <p:cNvPr id="6" name="text-263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Drawn by the LTSA tool [LTSA] from week1-introduction/models/rideshare-driver.lts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week: writing models in FSP</a:t>
            </a:r>
            <a:endParaRPr lang="en-US" sz="3400" dirty="0"/>
          </a:p>
        </p:txBody>
      </p:sp>
      <p:sp>
        <p:nvSpPr>
          <p:cNvPr id="3" name="code-panel-264"/>
          <p:cNvSpPr/>
          <p:nvPr/>
        </p:nvSpPr>
        <p:spPr>
          <a:xfrm>
            <a:off x="548640" y="1783080"/>
            <a:ext cx="5486400" cy="187452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265"/>
          <p:cNvSpPr txBox="1"/>
          <p:nvPr/>
        </p:nvSpPr>
        <p:spPr>
          <a:xfrm>
            <a:off x="731520" y="192024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COIN  = (toss -&gt; HEADS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|toss -&gt; TAILS),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HEADS = (heads -&gt; COIN),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E8EE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TAILS = (tails -&gt; COIN).</a:t>
            </a:r>
            <a:endParaRPr lang="en-US" sz="2200" dirty="0"/>
          </a:p>
        </p:txBody>
      </p:sp>
      <p:sp>
        <p:nvSpPr>
          <p:cNvPr id="5" name="text-266"/>
          <p:cNvSpPr txBox="1"/>
          <p:nvPr/>
        </p:nvSpPr>
        <p:spPr>
          <a:xfrm>
            <a:off x="548640" y="1435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FSP (text)</a:t>
            </a:r>
            <a:endParaRPr lang="en-US" sz="1400" dirty="0"/>
          </a:p>
        </p:txBody>
      </p:sp>
      <p:sp>
        <p:nvSpPr>
          <p:cNvPr id="6" name="text-267"/>
          <p:cNvSpPr txBox="1"/>
          <p:nvPr/>
        </p:nvSpPr>
        <p:spPr>
          <a:xfrm>
            <a:off x="6583680" y="14356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LTS (picture), drawn by LTSA</a:t>
            </a:r>
            <a:endParaRPr lang="en-US" sz="1400" dirty="0"/>
          </a:p>
        </p:txBody>
      </p:sp>
      <p:pic>
        <p:nvPicPr>
          <p:cNvPr id="7" name="image-268" descr="co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556" y="1783080"/>
            <a:ext cx="3991448" cy="3291840"/>
          </a:xfrm>
          <a:prstGeom prst="rect">
            <a:avLst/>
          </a:prstGeom>
        </p:spPr>
      </p:pic>
      <p:sp>
        <p:nvSpPr>
          <p:cNvPr id="8" name="text-269"/>
          <p:cNvSpPr txBox="1"/>
          <p:nvPr/>
        </p:nvSpPr>
        <p:spPr>
          <a:xfrm>
            <a:off x="548640" y="39776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The LTSA tool turns the text into the state machine, animates it and checks it automatically.</a:t>
            </a:r>
            <a:endParaRPr lang="en-US" sz="1900" dirty="0"/>
          </a:p>
        </p:txBody>
      </p:sp>
      <p:sp>
        <p:nvSpPr>
          <p:cNvPr id="9" name="text-270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COIN model from Magee &amp; Kramer [MK06]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checking: let the computer try everything</a:t>
            </a:r>
            <a:endParaRPr lang="en-US" sz="3400" dirty="0"/>
          </a:p>
        </p:txBody>
      </p:sp>
      <p:sp>
        <p:nvSpPr>
          <p:cNvPr id="3" name="bullets-271"/>
          <p:cNvSpPr txBox="1"/>
          <p:nvPr/>
        </p:nvSpPr>
        <p:spPr>
          <a:xfrm>
            <a:off x="548640" y="1463040"/>
            <a:ext cx="5760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Explores every reachable state, so every interleaving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Reports problems such as deadlock or a broken safety rule</a:t>
            </a:r>
            <a:endParaRPr lang="en-US" sz="2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chemeClr val="tx1"/>
                </a:solidFill>
              </a:rPr>
              <a:t>Gives the exact sequence of actions that leads there</a:t>
            </a:r>
            <a:endParaRPr lang="en-US" sz="2100" dirty="0"/>
          </a:p>
        </p:txBody>
      </p:sp>
      <p:sp>
        <p:nvSpPr>
          <p:cNvPr id="4" name="card-272"/>
          <p:cNvSpPr/>
          <p:nvPr/>
        </p:nvSpPr>
        <p:spPr>
          <a:xfrm>
            <a:off x="6583680" y="1463040"/>
            <a:ext cx="50566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-bg-273"/>
          <p:cNvSpPr/>
          <p:nvPr/>
        </p:nvSpPr>
        <p:spPr>
          <a:xfrm>
            <a:off x="6812280" y="169164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-2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039" y="1822399"/>
            <a:ext cx="332842" cy="332842"/>
          </a:xfrm>
          <a:prstGeom prst="rect">
            <a:avLst/>
          </a:prstGeom>
        </p:spPr>
      </p:pic>
      <p:sp>
        <p:nvSpPr>
          <p:cNvPr id="7" name="text-275"/>
          <p:cNvSpPr txBox="1"/>
          <p:nvPr/>
        </p:nvSpPr>
        <p:spPr>
          <a:xfrm>
            <a:off x="7543800" y="1691640"/>
            <a:ext cx="3913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Turing Awards</a:t>
            </a:r>
            <a:endParaRPr lang="en-US" sz="1900" dirty="0"/>
          </a:p>
        </p:txBody>
      </p:sp>
      <p:sp>
        <p:nvSpPr>
          <p:cNvPr id="8" name="text-276"/>
          <p:cNvSpPr txBox="1"/>
          <p:nvPr/>
        </p:nvSpPr>
        <p:spPr>
          <a:xfrm>
            <a:off x="6812280" y="2423160"/>
            <a:ext cx="4599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 checking (2007) · process algebra CSP (Hoare, 1980) and CCS (Milner, 1991)</a:t>
            </a:r>
            <a:endParaRPr lang="en-US" sz="1600" dirty="0"/>
          </a:p>
        </p:txBody>
      </p:sp>
      <p:sp>
        <p:nvSpPr>
          <p:cNvPr id="9" name="card-277"/>
          <p:cNvSpPr/>
          <p:nvPr/>
        </p:nvSpPr>
        <p:spPr>
          <a:xfrm>
            <a:off x="6583680" y="3566160"/>
            <a:ext cx="505663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-bg-278"/>
          <p:cNvSpPr/>
          <p:nvPr/>
        </p:nvSpPr>
        <p:spPr>
          <a:xfrm>
            <a:off x="6812280" y="379476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on-27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3039" y="3925519"/>
            <a:ext cx="332842" cy="332842"/>
          </a:xfrm>
          <a:prstGeom prst="rect">
            <a:avLst/>
          </a:prstGeom>
        </p:spPr>
      </p:pic>
      <p:sp>
        <p:nvSpPr>
          <p:cNvPr id="12" name="text-280"/>
          <p:cNvSpPr txBox="1"/>
          <p:nvPr/>
        </p:nvSpPr>
        <p:spPr>
          <a:xfrm>
            <a:off x="7543800" y="3794760"/>
            <a:ext cx="3913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Used in industry</a:t>
            </a:r>
            <a:endParaRPr lang="en-US" sz="1900" dirty="0"/>
          </a:p>
        </p:txBody>
      </p:sp>
      <p:sp>
        <p:nvSpPr>
          <p:cNvPr id="13" name="text-281"/>
          <p:cNvSpPr txBox="1"/>
          <p:nvPr/>
        </p:nvSpPr>
        <p:spPr>
          <a:xfrm>
            <a:off x="6812280" y="4526280"/>
            <a:ext cx="45994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AWS engineers model core distributed systems and found serious bugs that testing and review had missed [NRZ+15].</a:t>
            </a:r>
            <a:endParaRPr lang="en-US" sz="1600" dirty="0"/>
          </a:p>
        </p:txBody>
      </p:sp>
      <p:sp>
        <p:nvSpPr>
          <p:cNvPr id="14" name="text-282"/>
          <p:cNvSpPr txBox="1"/>
          <p:nvPr/>
        </p:nvSpPr>
        <p:spPr>
          <a:xfrm>
            <a:off x="548640" y="438912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Testing samples some interleavings. A model checker covers all of them, for the model.</a:t>
            </a:r>
            <a:endParaRPr lang="en-US" sz="2000" dirty="0"/>
          </a:p>
        </p:txBody>
      </p:sp>
      <p:sp>
        <p:nvSpPr>
          <p:cNvPr id="15" name="text-283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ACM A.M. Turing Award citations [Turing]; Newcombe et al., “How Amazon Web Services uses formal methods,” CACM 58(4), 2015 [NRZ+15]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Discuss: is cruise control safe?</a:t>
            </a:r>
            <a:endParaRPr lang="en-US" sz="3400" dirty="0"/>
          </a:p>
        </p:txBody>
      </p:sp>
      <p:sp>
        <p:nvSpPr>
          <p:cNvPr id="3" name="icon-bg-284"/>
          <p:cNvSpPr/>
          <p:nvPr/>
        </p:nvSpPr>
        <p:spPr>
          <a:xfrm>
            <a:off x="548640" y="155448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-2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158" y="1815998"/>
            <a:ext cx="665683" cy="665683"/>
          </a:xfrm>
          <a:prstGeom prst="rect">
            <a:avLst/>
          </a:prstGeom>
        </p:spPr>
      </p:pic>
      <p:sp>
        <p:nvSpPr>
          <p:cNvPr id="5" name="text-286"/>
          <p:cNvSpPr txBox="1"/>
          <p:nvPr/>
        </p:nvSpPr>
        <p:spPr>
          <a:xfrm>
            <a:off x="2057400" y="146304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With the engine on, pressing on records the current speed and the car holds it. Brake, accelerator or off disables it; resume re-enables it.</a:t>
            </a:r>
            <a:endParaRPr lang="en-US" sz="2100" dirty="0"/>
          </a:p>
        </p:txBody>
      </p:sp>
      <p:sp>
        <p:nvSpPr>
          <p:cNvPr id="6" name="bullets-287"/>
          <p:cNvSpPr txBox="1"/>
          <p:nvPr/>
        </p:nvSpPr>
        <p:spPr>
          <a:xfrm>
            <a:off x="2057400" y="3246120"/>
            <a:ext cx="9509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Could the car ever speed up after you have braked?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What if resume and brake are pressed at nearly the same moment?</a:t>
            </a:r>
            <a:endParaRPr lang="en-US" sz="2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Would test drives be enough to find every error?</a:t>
            </a:r>
            <a:endParaRPr lang="en-US" sz="2200" dirty="0"/>
          </a:p>
        </p:txBody>
      </p:sp>
      <p:sp>
        <p:nvSpPr>
          <p:cNvPr id="7" name="text-288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Cruise control system: Magee &amp; Kramer [MK06], ch. 1 and later chapters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weeks: concepts, models, practice</a:t>
            </a:r>
            <a:endParaRPr lang="en-US" sz="3400" dirty="0"/>
          </a:p>
        </p:txBody>
      </p:sp>
      <p:graphicFrame>
        <p:nvGraphicFramePr>
          <p:cNvPr id="24" name="table-2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3566160"/>
                <a:gridCol w="368503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Week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Topic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Models (FSP / LTSA)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Practice (Java 21+)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Introduction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state machines, abstraction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races, interleavings, timing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Processes &amp; threads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prefix, choice, guards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Thread, Runnable, virtual threads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Concurrent execution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parallel composition ||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many threads, executors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Shared objects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interference, locks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synchronized, atomics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Monitors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 synchronization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wait/notifyAll, BlockingQueue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Deadlock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deadlock detection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lock ordering, tryLock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-290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Structure follows Magee &amp; Kramer [MK06], chapters 1–6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this week’s exercises</a:t>
            </a:r>
            <a:endParaRPr lang="en-US" sz="3400" dirty="0"/>
          </a:p>
        </p:txBody>
      </p:sp>
      <p:sp>
        <p:nvSpPr>
          <p:cNvPr id="3" name="card-291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con-bg-292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29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822399"/>
            <a:ext cx="332842" cy="332842"/>
          </a:xfrm>
          <a:prstGeom prst="rect">
            <a:avLst/>
          </a:prstGeom>
        </p:spPr>
      </p:pic>
      <p:sp>
        <p:nvSpPr>
          <p:cNvPr id="6" name="text-294"/>
          <p:cNvSpPr txBox="1"/>
          <p:nvPr/>
        </p:nvSpPr>
        <p:spPr>
          <a:xfrm>
            <a:off x="1508760" y="1691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Java 21+ &amp; Maven</a:t>
            </a:r>
            <a:endParaRPr lang="en-US" sz="1900" dirty="0"/>
          </a:p>
        </p:txBody>
      </p:sp>
      <p:sp>
        <p:nvSpPr>
          <p:cNvPr id="7" name="text-295"/>
          <p:cNvSpPr txBox="1"/>
          <p:nvPr/>
        </p:nvSpPr>
        <p:spPr>
          <a:xfrm>
            <a:off x="777240" y="2423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week’s exercises are a Maven project. Run one with -Dmain (see SETUP.md)</a:t>
            </a:r>
            <a:endParaRPr lang="en-US" sz="1600" dirty="0"/>
          </a:p>
        </p:txBody>
      </p:sp>
      <p:sp>
        <p:nvSpPr>
          <p:cNvPr id="8" name="card-296"/>
          <p:cNvSpPr/>
          <p:nvPr/>
        </p:nvSpPr>
        <p:spPr>
          <a:xfrm>
            <a:off x="548640" y="3749040"/>
            <a:ext cx="356616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con-bg-297"/>
          <p:cNvSpPr/>
          <p:nvPr/>
        </p:nvSpPr>
        <p:spPr>
          <a:xfrm>
            <a:off x="777240" y="397764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-29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999" y="4108399"/>
            <a:ext cx="332842" cy="332842"/>
          </a:xfrm>
          <a:prstGeom prst="rect">
            <a:avLst/>
          </a:prstGeom>
        </p:spPr>
      </p:pic>
      <p:sp>
        <p:nvSpPr>
          <p:cNvPr id="11" name="text-299"/>
          <p:cNvSpPr txBox="1"/>
          <p:nvPr/>
        </p:nvSpPr>
        <p:spPr>
          <a:xfrm>
            <a:off x="1508760" y="397764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LTSA</a:t>
            </a:r>
            <a:endParaRPr lang="en-US" sz="1900" dirty="0"/>
          </a:p>
        </p:txBody>
      </p:sp>
      <p:sp>
        <p:nvSpPr>
          <p:cNvPr id="12" name="text-300"/>
          <p:cNvSpPr txBox="1"/>
          <p:nvPr/>
        </p:nvSpPr>
        <p:spPr>
          <a:xfrm>
            <a:off x="777240" y="4709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modelling tool from the textbook authors. See SETUP.md</a:t>
            </a:r>
            <a:endParaRPr lang="en-US" sz="1600" dirty="0"/>
          </a:p>
        </p:txBody>
      </p:sp>
      <p:graphicFrame>
        <p:nvGraphicFramePr>
          <p:cNvPr id="25" name="table-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463040"/>
          <a:ext cx="725119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846320"/>
                <a:gridCol w="185623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Exercise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Kind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Interleavings by hand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paper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Lost likes: run, explain (stretch: fix)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Concurrent downloads: wait vs compute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 interleavings, recursively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Model a food-delivery order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paper / LTSA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Concurrency in an app you use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writing</a:t>
                      </a:r>
                      <a:endParaRPr lang="en-US" sz="17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and exit ticket</a:t>
            </a:r>
            <a:endParaRPr lang="en-US" sz="3400" dirty="0"/>
          </a:p>
        </p:txBody>
      </p:sp>
      <p:sp>
        <p:nvSpPr>
          <p:cNvPr id="3" name="bullets-302"/>
          <p:cNvSpPr txBox="1"/>
          <p:nvPr/>
        </p:nvSpPr>
        <p:spPr>
          <a:xfrm>
            <a:off x="548640" y="146304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Concepts</a:t>
            </a:r>
            <a:endParaRPr lang="en-US" sz="21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accent5"/>
                </a:solidFill>
              </a:rPr>
              <a:t>Concurrent = several threads of control in progress at once</a:t>
            </a:r>
            <a:endParaRPr lang="en-US" sz="21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accent5"/>
                </a:solidFill>
              </a:rPr>
              <a:t>Races: results depend on interleaving</a:t>
            </a:r>
            <a:endParaRPr lang="en-US" sz="2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Models</a:t>
            </a:r>
            <a:endParaRPr lang="en-US" sz="21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accent5"/>
                </a:solidFill>
              </a:rPr>
              <a:t>Abstractions, fit for purpose</a:t>
            </a:r>
            <a:endParaRPr lang="en-US" sz="21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accent5"/>
                </a:solidFill>
              </a:rPr>
              <a:t>Model checking covers every interleaving</a:t>
            </a:r>
            <a:endParaRPr lang="en-US" sz="2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chemeClr val="tx1"/>
                </a:solidFill>
              </a:rPr>
              <a:t>Practice</a:t>
            </a:r>
            <a:endParaRPr lang="en-US" sz="2100" dirty="0"/>
          </a:p>
          <a:p>
            <a:pPr lvl="1" marL="457200" indent="-2286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accent5"/>
                </a:solidFill>
              </a:rPr>
              <a:t>Java threads (properly next week)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035040" y="1463040"/>
            <a:ext cx="5605272" cy="4389120"/>
          </a:xfrm>
          <a:prstGeom prst="roundRect">
            <a:avLst>
              <a:gd name="adj" fmla="val 208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303"/>
          <p:cNvSpPr txBox="1"/>
          <p:nvPr/>
        </p:nvSpPr>
        <p:spPr>
          <a:xfrm>
            <a:off x="6309360" y="169164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Exit ticket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1. In one sentence: concurrency vs parallelism?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2. Two threads each run count = count + 1 once. count starts at 5. Possible final values?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3. Name one thing a model lets you do that testing cannot.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400" dirty="0"/>
          </a:p>
        </p:txBody>
      </p:sp>
      <p:sp>
        <p:nvSpPr>
          <p:cNvPr id="3" name="text-304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Magee, J. &amp; Kramer, J. (2006). Concurrency: State Models &amp; Java Programs, 2nd ed. Wiley. Lecture slides: doc.ic.ac.uk/~jnm/book  [MK06]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Pike, R. (2012). Concurrency is not parallelism. Heroku Waza. go.dev/blog/waza-talk  [Pik12]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Sutter, H. (2005). The free lunch is over. Dr. Dobb’s Journal 30(3)  [Sut05]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Leveson, N. &amp; Turner, C. (1993). An investigation of the Therac-25 accidents. IEEE Computer 26(7)  [LT93]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Reeves, G. (1997). What really happened on Mars? (Mars Pathfinder)  [Ree97]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U.S.–Canada Power System Outage Task Force (2004). Final report on the August 14, 2003 blackout; Poulsen, K. (2004), The Register  [TF04], [Reg04]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Devlin, K. (2003). Why universities require CS students to take math. CACM 46(9); Kramer, J. (2007). Is abstraction the key to computing? CACM 50(4)  [Dev03], [Kra07]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Garland, K. (1994). Mr Beck’s Underground Map. Capital Transport  [Gar94]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Newcombe, C. et al. (2015). How Amazon Web Services uses formal methods. CACM 58(4)  [NRZ+15]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ACM A.M. Turing Award citations, amturing.acm.org  [Turing]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urrency Course">
  <a:themeElements>
    <a:clrScheme name="Concurrency Course">
      <a:dk1>
        <a:srgbClr val="1B2A41"/>
      </a:dk1>
      <a:lt1>
        <a:srgbClr val="FFFFFF"/>
      </a:lt1>
      <a:dk2>
        <a:srgbClr val="0E7C7B"/>
      </a:dk2>
      <a:lt2>
        <a:srgbClr val="EEF3F6"/>
      </a:lt2>
      <a:accent1>
        <a:srgbClr val="0E7C7B"/>
      </a:accent1>
      <a:accent2>
        <a:srgbClr val="F4A259"/>
      </a:accent2>
      <a:accent3>
        <a:srgbClr val="BC4B51"/>
      </a:accent3>
      <a:accent4>
        <a:srgbClr val="3D5A80"/>
      </a:accent4>
      <a:accent5>
        <a:srgbClr val="5B6B7F"/>
      </a:accent5>
      <a:accent6>
        <a:srgbClr val="D7EFEE"/>
      </a:accent6>
      <a:hlink>
        <a:srgbClr val="0E7C7B"/>
      </a:hlink>
      <a:folHlink>
        <a:srgbClr val="3D5A80"/>
      </a:folHlink>
    </a:clrScheme>
    <a:fontScheme name="Concurrency Cours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II · Concurrency · Week 1: Introduction</dc:title>
  <dc:subject>PptxGenJS Presentation</dc:subject>
  <dc:creator>CS II</dc:creator>
  <cp:lastModifiedBy>CS II</cp:lastModifiedBy>
  <cp:revision>1</cp:revision>
  <dcterms:created xsi:type="dcterms:W3CDTF">2026-10-22T18:58:26Z</dcterms:created>
  <dcterms:modified xsi:type="dcterms:W3CDTF">2026-10-22T18:58:26Z</dcterms:modified>
</cp:coreProperties>
</file>