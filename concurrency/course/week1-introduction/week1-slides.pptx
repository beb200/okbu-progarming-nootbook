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7c71c69-d276-f6df-2fea-b980a6015cfc}">
          <p14:sldIdLst>
            <p14:sldId id="256"/>
            <p14:sldId id="257"/>
          </p14:sldIdLst>
        </p14:section>
        <p14:section name="Concepts" id="{759fd381-739b-a10f-8ec4-1aede81102fd}">
          <p14:sldIdLst>
            <p14:sldId id="258"/>
            <p14:sldId id="259"/>
            <p14:sldId id="260"/>
            <p14:sldId id="261"/>
          </p14:sldIdLst>
        </p14:section>
        <p14:section name="Race conditions" id="{1e37c413-bb51-9b3e-c1ff-ef16584e8e4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hinking in states" id="{a963b82e-19d9-9a45-3588-2db7fee77464}">
          <p14:sldIdLst>
            <p14:sldId id="268"/>
          </p14:sldIdLst>
        </p14:section>
        <p14:section name="Wrap-up" id="{99d00b8e-e07b-13dc-7723-7dd988170811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Adapted from J. Magee &amp; J. Kramer, Concurrency: State Models &amp; Java Programs, 2nd ed. (Wiley, 2006) and its lecture slides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CS II · Concurrency · Week 1: Introduction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Concurrency, and Why Is It Hard?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Week 1 · Introduction to Concurrency · CS II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-1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-2"/>
          <p:cNvSpPr txBox="1"/>
          <p:nvPr/>
        </p:nvSpPr>
        <p:spPr>
          <a:xfrm>
            <a:off x="1417320" y="1463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Tell sequential from concurrent programs, and concurrency from parallelism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-3"/>
          <p:cNvSpPr txBox="1"/>
          <p:nvPr/>
        </p:nvSpPr>
        <p:spPr>
          <a:xfrm>
            <a:off x="54864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-4"/>
          <p:cNvSpPr txBox="1"/>
          <p:nvPr/>
        </p:nvSpPr>
        <p:spPr>
          <a:xfrm>
            <a:off x="1417320" y="25146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Give four reasons we write concurrent programs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5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-6"/>
          <p:cNvSpPr txBox="1"/>
          <p:nvPr/>
        </p:nvSpPr>
        <p:spPr>
          <a:xfrm>
            <a:off x="1417320" y="35661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a race condition, and find every result of a small one by listing interleavings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-7"/>
          <p:cNvSpPr txBox="1"/>
          <p:nvPr/>
        </p:nvSpPr>
        <p:spPr>
          <a:xfrm>
            <a:off x="54864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-8"/>
          <p:cNvSpPr txBox="1"/>
          <p:nvPr/>
        </p:nvSpPr>
        <p:spPr>
          <a:xfrm>
            <a:off x="1417320" y="4617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Draw a simple state diagram of something real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phone doing right now?</a:t>
            </a:r>
            <a:endParaRPr lang="en-US" sz="3400" dirty="0"/>
          </a:p>
        </p:txBody>
      </p:sp>
      <p:sp>
        <p:nvSpPr>
          <p:cNvPr id="3" name="card-9"/>
          <p:cNvSpPr/>
          <p:nvPr/>
        </p:nvSpPr>
        <p:spPr>
          <a:xfrm>
            <a:off x="548640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0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1" descr="mus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6" name="text-12"/>
          <p:cNvSpPr txBox="1"/>
          <p:nvPr/>
        </p:nvSpPr>
        <p:spPr>
          <a:xfrm>
            <a:off x="1508760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Playing audio</a:t>
            </a:r>
            <a:endParaRPr lang="en-US" sz="1900" dirty="0"/>
          </a:p>
        </p:txBody>
      </p:sp>
      <p:sp>
        <p:nvSpPr>
          <p:cNvPr id="7" name="text-13"/>
          <p:cNvSpPr txBox="1"/>
          <p:nvPr/>
        </p:nvSpPr>
        <p:spPr>
          <a:xfrm>
            <a:off x="777240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decoding and sending sound to the speaker, without gaps</a:t>
            </a:r>
            <a:endParaRPr lang="en-US" sz="1600" dirty="0"/>
          </a:p>
        </p:txBody>
      </p:sp>
      <p:sp>
        <p:nvSpPr>
          <p:cNvPr id="8" name="card-14"/>
          <p:cNvSpPr/>
          <p:nvPr/>
        </p:nvSpPr>
        <p:spPr>
          <a:xfrm>
            <a:off x="3364992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5"/>
          <p:cNvSpPr/>
          <p:nvPr/>
        </p:nvSpPr>
        <p:spPr>
          <a:xfrm>
            <a:off x="3593592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6" descr="downloa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51" y="1822399"/>
            <a:ext cx="332842" cy="332842"/>
          </a:xfrm>
          <a:prstGeom prst="rect">
            <a:avLst/>
          </a:prstGeom>
        </p:spPr>
      </p:pic>
      <p:sp>
        <p:nvSpPr>
          <p:cNvPr id="11" name="text-17"/>
          <p:cNvSpPr txBox="1"/>
          <p:nvPr/>
        </p:nvSpPr>
        <p:spPr>
          <a:xfrm>
            <a:off x="4325112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Downloading</a:t>
            </a:r>
            <a:endParaRPr lang="en-US" sz="1900" dirty="0"/>
          </a:p>
        </p:txBody>
      </p:sp>
      <p:sp>
        <p:nvSpPr>
          <p:cNvPr id="12" name="text-18"/>
          <p:cNvSpPr txBox="1"/>
          <p:nvPr/>
        </p:nvSpPr>
        <p:spPr>
          <a:xfrm>
            <a:off x="3593592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fetching the next song or a software update in the background</a:t>
            </a:r>
            <a:endParaRPr lang="en-US" sz="1600" dirty="0"/>
          </a:p>
        </p:txBody>
      </p:sp>
      <p:sp>
        <p:nvSpPr>
          <p:cNvPr id="13" name="card-19"/>
          <p:cNvSpPr/>
          <p:nvPr/>
        </p:nvSpPr>
        <p:spPr>
          <a:xfrm>
            <a:off x="6181344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20"/>
          <p:cNvSpPr/>
          <p:nvPr/>
        </p:nvSpPr>
        <p:spPr>
          <a:xfrm>
            <a:off x="6409944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21" descr="bel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03" y="1822399"/>
            <a:ext cx="332842" cy="332842"/>
          </a:xfrm>
          <a:prstGeom prst="rect">
            <a:avLst/>
          </a:prstGeom>
        </p:spPr>
      </p:pic>
      <p:sp>
        <p:nvSpPr>
          <p:cNvPr id="16" name="text-22"/>
          <p:cNvSpPr txBox="1"/>
          <p:nvPr/>
        </p:nvSpPr>
        <p:spPr>
          <a:xfrm>
            <a:off x="7141464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Notifications</a:t>
            </a:r>
            <a:endParaRPr lang="en-US" sz="1900" dirty="0"/>
          </a:p>
        </p:txBody>
      </p:sp>
      <p:sp>
        <p:nvSpPr>
          <p:cNvPr id="17" name="text-23"/>
          <p:cNvSpPr txBox="1"/>
          <p:nvPr/>
        </p:nvSpPr>
        <p:spPr>
          <a:xfrm>
            <a:off x="6409944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listening for messages from many apps at once</a:t>
            </a:r>
            <a:endParaRPr lang="en-US" sz="1600" dirty="0"/>
          </a:p>
        </p:txBody>
      </p:sp>
      <p:sp>
        <p:nvSpPr>
          <p:cNvPr id="18" name="card-24"/>
          <p:cNvSpPr/>
          <p:nvPr/>
        </p:nvSpPr>
        <p:spPr>
          <a:xfrm>
            <a:off x="8997696" y="1463040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25"/>
          <p:cNvSpPr/>
          <p:nvPr/>
        </p:nvSpPr>
        <p:spPr>
          <a:xfrm>
            <a:off x="9226296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6" descr="hand point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1822399"/>
            <a:ext cx="332842" cy="332842"/>
          </a:xfrm>
          <a:prstGeom prst="rect">
            <a:avLst/>
          </a:prstGeom>
        </p:spPr>
      </p:pic>
      <p:sp>
        <p:nvSpPr>
          <p:cNvPr id="21" name="text-27"/>
          <p:cNvSpPr txBox="1"/>
          <p:nvPr/>
        </p:nvSpPr>
        <p:spPr>
          <a:xfrm>
            <a:off x="9957816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Your taps</a:t>
            </a:r>
            <a:endParaRPr lang="en-US" sz="1900" dirty="0"/>
          </a:p>
        </p:txBody>
      </p:sp>
      <p:sp>
        <p:nvSpPr>
          <p:cNvPr id="22" name="text-28"/>
          <p:cNvSpPr txBox="1"/>
          <p:nvPr/>
        </p:nvSpPr>
        <p:spPr>
          <a:xfrm>
            <a:off x="9226296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responding instantly, even while everything else runs</a:t>
            </a:r>
            <a:endParaRPr lang="en-US" sz="1600" dirty="0"/>
          </a:p>
        </p:txBody>
      </p:sp>
      <p:sp>
        <p:nvSpPr>
          <p:cNvPr id="23" name="text-29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Each activity is a thread of control. They are all in progress at the same time.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vs concurrent programs</a:t>
            </a:r>
            <a:endParaRPr lang="en-US" sz="3400" dirty="0"/>
          </a:p>
        </p:txBody>
      </p:sp>
      <p:sp>
        <p:nvSpPr>
          <p:cNvPr id="3" name="text-30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Sequential</a:t>
            </a:r>
            <a:endParaRPr lang="en-US" sz="2400" dirty="0"/>
          </a:p>
        </p:txBody>
      </p:sp>
      <p:sp>
        <p:nvSpPr>
          <p:cNvPr id="4" name="text-31"/>
          <p:cNvSpPr txBox="1"/>
          <p:nvPr/>
        </p:nvSpPr>
        <p:spPr>
          <a:xfrm>
            <a:off x="54864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single thread of control: at any moment, exactly one "current line".</a:t>
            </a:r>
            <a:endParaRPr lang="en-US" sz="1800" dirty="0"/>
          </a:p>
        </p:txBody>
      </p:sp>
      <p:sp>
        <p:nvSpPr>
          <p:cNvPr id="5" name="rect-32"/>
          <p:cNvSpPr/>
          <p:nvPr/>
        </p:nvSpPr>
        <p:spPr>
          <a:xfrm>
            <a:off x="2560320" y="274320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rect-33"/>
          <p:cNvSpPr/>
          <p:nvPr/>
        </p:nvSpPr>
        <p:spPr>
          <a:xfrm>
            <a:off x="2560320" y="324612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rect-34"/>
          <p:cNvSpPr/>
          <p:nvPr/>
        </p:nvSpPr>
        <p:spPr>
          <a:xfrm>
            <a:off x="2560320" y="374904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rect-35"/>
          <p:cNvSpPr/>
          <p:nvPr/>
        </p:nvSpPr>
        <p:spPr>
          <a:xfrm>
            <a:off x="2560320" y="425196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rect-36"/>
          <p:cNvSpPr/>
          <p:nvPr/>
        </p:nvSpPr>
        <p:spPr>
          <a:xfrm>
            <a:off x="2560320" y="475488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rect-37"/>
          <p:cNvSpPr/>
          <p:nvPr/>
        </p:nvSpPr>
        <p:spPr>
          <a:xfrm>
            <a:off x="2560320" y="5257800"/>
            <a:ext cx="109728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ine-38"/>
          <p:cNvSpPr/>
          <p:nvPr/>
        </p:nvSpPr>
        <p:spPr>
          <a:xfrm>
            <a:off x="2286000" y="2743200"/>
            <a:ext cx="914" cy="292608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text-39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Concurrent</a:t>
            </a:r>
            <a:endParaRPr lang="en-US" sz="2400" dirty="0"/>
          </a:p>
        </p:txBody>
      </p:sp>
      <p:sp>
        <p:nvSpPr>
          <p:cNvPr id="13" name="text-40"/>
          <p:cNvSpPr txBox="1"/>
          <p:nvPr/>
        </p:nvSpPr>
        <p:spPr>
          <a:xfrm>
            <a:off x="6309360" y="1874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Multiple threads of control, all in progress at once, often sharing data.</a:t>
            </a:r>
            <a:endParaRPr lang="en-US" sz="1800" dirty="0"/>
          </a:p>
        </p:txBody>
      </p:sp>
      <p:sp>
        <p:nvSpPr>
          <p:cNvPr id="14" name="line-41"/>
          <p:cNvSpPr/>
          <p:nvPr/>
        </p:nvSpPr>
        <p:spPr>
          <a:xfrm>
            <a:off x="6583680" y="2743200"/>
            <a:ext cx="914" cy="2926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rect-42"/>
          <p:cNvSpPr/>
          <p:nvPr/>
        </p:nvSpPr>
        <p:spPr>
          <a:xfrm>
            <a:off x="6858000" y="274320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rect-43"/>
          <p:cNvSpPr/>
          <p:nvPr/>
        </p:nvSpPr>
        <p:spPr>
          <a:xfrm>
            <a:off x="6858000" y="37490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rect-44"/>
          <p:cNvSpPr/>
          <p:nvPr/>
        </p:nvSpPr>
        <p:spPr>
          <a:xfrm>
            <a:off x="6858000" y="475488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line-45"/>
          <p:cNvSpPr/>
          <p:nvPr/>
        </p:nvSpPr>
        <p:spPr>
          <a:xfrm>
            <a:off x="8229600" y="2743200"/>
            <a:ext cx="914" cy="292608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rect-46"/>
          <p:cNvSpPr/>
          <p:nvPr/>
        </p:nvSpPr>
        <p:spPr>
          <a:xfrm>
            <a:off x="8503920" y="32461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rect-47"/>
          <p:cNvSpPr/>
          <p:nvPr/>
        </p:nvSpPr>
        <p:spPr>
          <a:xfrm>
            <a:off x="8503920" y="425196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rect-48"/>
          <p:cNvSpPr/>
          <p:nvPr/>
        </p:nvSpPr>
        <p:spPr>
          <a:xfrm>
            <a:off x="8503920" y="525780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line-49"/>
          <p:cNvSpPr/>
          <p:nvPr/>
        </p:nvSpPr>
        <p:spPr>
          <a:xfrm>
            <a:off x="9875520" y="2743200"/>
            <a:ext cx="914" cy="29260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rect-50"/>
          <p:cNvSpPr/>
          <p:nvPr/>
        </p:nvSpPr>
        <p:spPr>
          <a:xfrm>
            <a:off x="10149840" y="274320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rect-51"/>
          <p:cNvSpPr/>
          <p:nvPr/>
        </p:nvSpPr>
        <p:spPr>
          <a:xfrm>
            <a:off x="10149840" y="37490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rect-52"/>
          <p:cNvSpPr/>
          <p:nvPr/>
        </p:nvSpPr>
        <p:spPr>
          <a:xfrm>
            <a:off x="10149840" y="475488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-53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Definitions: Magee &amp; Kramer [MK06], ch.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is not parallelism</a:t>
            </a:r>
            <a:endParaRPr lang="en-US" sz="3400" dirty="0"/>
          </a:p>
        </p:txBody>
      </p:sp>
      <p:sp>
        <p:nvSpPr>
          <p:cNvPr id="3" name="text-54"/>
          <p:cNvSpPr txBox="1"/>
          <p:nvPr/>
        </p:nvSpPr>
        <p:spPr>
          <a:xfrm>
            <a:off x="54864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One core: concurrency by interleaving</a:t>
            </a:r>
            <a:endParaRPr lang="en-US" sz="1900" dirty="0"/>
          </a:p>
        </p:txBody>
      </p:sp>
      <p:sp>
        <p:nvSpPr>
          <p:cNvPr id="4" name="text-55"/>
          <p:cNvSpPr txBox="1"/>
          <p:nvPr/>
        </p:nvSpPr>
        <p:spPr>
          <a:xfrm>
            <a:off x="54864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core 1</a:t>
            </a:r>
            <a:endParaRPr lang="en-US" sz="1500" dirty="0"/>
          </a:p>
        </p:txBody>
      </p:sp>
      <p:sp>
        <p:nvSpPr>
          <p:cNvPr id="5" name="rect-56"/>
          <p:cNvSpPr/>
          <p:nvPr/>
        </p:nvSpPr>
        <p:spPr>
          <a:xfrm>
            <a:off x="1463040" y="196596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57"/>
          <p:cNvSpPr txBox="1"/>
          <p:nvPr/>
        </p:nvSpPr>
        <p:spPr>
          <a:xfrm>
            <a:off x="1554480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rect-58"/>
          <p:cNvSpPr/>
          <p:nvPr/>
        </p:nvSpPr>
        <p:spPr>
          <a:xfrm>
            <a:off x="2029968" y="196596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59"/>
          <p:cNvSpPr txBox="1"/>
          <p:nvPr/>
        </p:nvSpPr>
        <p:spPr>
          <a:xfrm>
            <a:off x="2121408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rect-60"/>
          <p:cNvSpPr/>
          <p:nvPr/>
        </p:nvSpPr>
        <p:spPr>
          <a:xfrm>
            <a:off x="2596896" y="1965960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61"/>
          <p:cNvSpPr txBox="1"/>
          <p:nvPr/>
        </p:nvSpPr>
        <p:spPr>
          <a:xfrm>
            <a:off x="2688336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rect-62"/>
          <p:cNvSpPr/>
          <p:nvPr/>
        </p:nvSpPr>
        <p:spPr>
          <a:xfrm>
            <a:off x="3163824" y="1965960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63"/>
          <p:cNvSpPr txBox="1"/>
          <p:nvPr/>
        </p:nvSpPr>
        <p:spPr>
          <a:xfrm>
            <a:off x="3255264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rect-64"/>
          <p:cNvSpPr/>
          <p:nvPr/>
        </p:nvSpPr>
        <p:spPr>
          <a:xfrm>
            <a:off x="3730752" y="196596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65"/>
          <p:cNvSpPr txBox="1"/>
          <p:nvPr/>
        </p:nvSpPr>
        <p:spPr>
          <a:xfrm>
            <a:off x="3822192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5" name="rect-66"/>
          <p:cNvSpPr/>
          <p:nvPr/>
        </p:nvSpPr>
        <p:spPr>
          <a:xfrm>
            <a:off x="4297680" y="1965960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67"/>
          <p:cNvSpPr txBox="1"/>
          <p:nvPr/>
        </p:nvSpPr>
        <p:spPr>
          <a:xfrm>
            <a:off x="4389120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rect-68"/>
          <p:cNvSpPr/>
          <p:nvPr/>
        </p:nvSpPr>
        <p:spPr>
          <a:xfrm>
            <a:off x="4864608" y="196596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69"/>
          <p:cNvSpPr txBox="1"/>
          <p:nvPr/>
        </p:nvSpPr>
        <p:spPr>
          <a:xfrm>
            <a:off x="4956048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9" name="rect-70"/>
          <p:cNvSpPr/>
          <p:nvPr/>
        </p:nvSpPr>
        <p:spPr>
          <a:xfrm>
            <a:off x="5431536" y="196596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71"/>
          <p:cNvSpPr txBox="1"/>
          <p:nvPr/>
        </p:nvSpPr>
        <p:spPr>
          <a:xfrm>
            <a:off x="5522976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1" name="rect-72"/>
          <p:cNvSpPr/>
          <p:nvPr/>
        </p:nvSpPr>
        <p:spPr>
          <a:xfrm>
            <a:off x="5998464" y="1965960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-73"/>
          <p:cNvSpPr txBox="1"/>
          <p:nvPr/>
        </p:nvSpPr>
        <p:spPr>
          <a:xfrm>
            <a:off x="6089904" y="2011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3" name="text-74"/>
          <p:cNvSpPr txBox="1"/>
          <p:nvPr/>
        </p:nvSpPr>
        <p:spPr>
          <a:xfrm>
            <a:off x="54864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Two cores: parallelism</a:t>
            </a:r>
            <a:endParaRPr lang="en-US" sz="1900" dirty="0"/>
          </a:p>
        </p:txBody>
      </p:sp>
      <p:sp>
        <p:nvSpPr>
          <p:cNvPr id="24" name="text-75"/>
          <p:cNvSpPr txBox="1"/>
          <p:nvPr/>
        </p:nvSpPr>
        <p:spPr>
          <a:xfrm>
            <a:off x="54864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core 1</a:t>
            </a:r>
            <a:endParaRPr lang="en-US" sz="1500" dirty="0"/>
          </a:p>
        </p:txBody>
      </p:sp>
      <p:sp>
        <p:nvSpPr>
          <p:cNvPr id="25" name="rect-76"/>
          <p:cNvSpPr/>
          <p:nvPr/>
        </p:nvSpPr>
        <p:spPr>
          <a:xfrm>
            <a:off x="1463040" y="338328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-77"/>
          <p:cNvSpPr txBox="1"/>
          <p:nvPr/>
        </p:nvSpPr>
        <p:spPr>
          <a:xfrm>
            <a:off x="1554480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7" name="rect-78"/>
          <p:cNvSpPr/>
          <p:nvPr/>
        </p:nvSpPr>
        <p:spPr>
          <a:xfrm>
            <a:off x="2029968" y="338328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79"/>
          <p:cNvSpPr txBox="1"/>
          <p:nvPr/>
        </p:nvSpPr>
        <p:spPr>
          <a:xfrm>
            <a:off x="2121408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9" name="rect-80"/>
          <p:cNvSpPr/>
          <p:nvPr/>
        </p:nvSpPr>
        <p:spPr>
          <a:xfrm>
            <a:off x="2596896" y="338328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-81"/>
          <p:cNvSpPr txBox="1"/>
          <p:nvPr/>
        </p:nvSpPr>
        <p:spPr>
          <a:xfrm>
            <a:off x="2688336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1" name="rect-82"/>
          <p:cNvSpPr/>
          <p:nvPr/>
        </p:nvSpPr>
        <p:spPr>
          <a:xfrm>
            <a:off x="3163824" y="338328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-83"/>
          <p:cNvSpPr txBox="1"/>
          <p:nvPr/>
        </p:nvSpPr>
        <p:spPr>
          <a:xfrm>
            <a:off x="3255264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3" name="rect-84"/>
          <p:cNvSpPr/>
          <p:nvPr/>
        </p:nvSpPr>
        <p:spPr>
          <a:xfrm>
            <a:off x="3730752" y="3383280"/>
            <a:ext cx="53035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-85"/>
          <p:cNvSpPr txBox="1"/>
          <p:nvPr/>
        </p:nvSpPr>
        <p:spPr>
          <a:xfrm>
            <a:off x="3822192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5" name="text-86"/>
          <p:cNvSpPr txBox="1"/>
          <p:nvPr/>
        </p:nvSpPr>
        <p:spPr>
          <a:xfrm>
            <a:off x="548640" y="3950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core 2</a:t>
            </a:r>
            <a:endParaRPr lang="en-US" sz="1500" dirty="0"/>
          </a:p>
        </p:txBody>
      </p:sp>
      <p:sp>
        <p:nvSpPr>
          <p:cNvPr id="36" name="rect-87"/>
          <p:cNvSpPr/>
          <p:nvPr/>
        </p:nvSpPr>
        <p:spPr>
          <a:xfrm>
            <a:off x="1463040" y="3950208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-88"/>
          <p:cNvSpPr txBox="1"/>
          <p:nvPr/>
        </p:nvSpPr>
        <p:spPr>
          <a:xfrm>
            <a:off x="1554480" y="39959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38" name="rect-89"/>
          <p:cNvSpPr/>
          <p:nvPr/>
        </p:nvSpPr>
        <p:spPr>
          <a:xfrm>
            <a:off x="2029968" y="3950208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ext-90"/>
          <p:cNvSpPr txBox="1"/>
          <p:nvPr/>
        </p:nvSpPr>
        <p:spPr>
          <a:xfrm>
            <a:off x="2121408" y="39959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40" name="rect-91"/>
          <p:cNvSpPr/>
          <p:nvPr/>
        </p:nvSpPr>
        <p:spPr>
          <a:xfrm>
            <a:off x="2596896" y="3950208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-92"/>
          <p:cNvSpPr txBox="1"/>
          <p:nvPr/>
        </p:nvSpPr>
        <p:spPr>
          <a:xfrm>
            <a:off x="2688336" y="39959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42" name="rect-93"/>
          <p:cNvSpPr/>
          <p:nvPr/>
        </p:nvSpPr>
        <p:spPr>
          <a:xfrm>
            <a:off x="3163824" y="3950208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-94"/>
          <p:cNvSpPr txBox="1"/>
          <p:nvPr/>
        </p:nvSpPr>
        <p:spPr>
          <a:xfrm>
            <a:off x="3255264" y="39959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44" name="rect-95"/>
          <p:cNvSpPr/>
          <p:nvPr/>
        </p:nvSpPr>
        <p:spPr>
          <a:xfrm>
            <a:off x="3730752" y="3950208"/>
            <a:ext cx="530352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text-96"/>
          <p:cNvSpPr txBox="1"/>
          <p:nvPr/>
        </p:nvSpPr>
        <p:spPr>
          <a:xfrm>
            <a:off x="3822192" y="39959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66560" y="1463040"/>
            <a:ext cx="4873752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-97"/>
          <p:cNvSpPr txBox="1"/>
          <p:nvPr/>
        </p:nvSpPr>
        <p:spPr>
          <a:xfrm>
            <a:off x="7040880" y="16916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“Concurrency is about dealing with lots of things at once. Parallelism is about doing lots of things at once.”</a:t>
            </a:r>
            <a:endParaRPr lang="en-US" sz="18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Rob Pike, 2012</a:t>
            </a:r>
            <a:endParaRPr lang="en-US" sz="1800" dirty="0"/>
          </a:p>
        </p:txBody>
      </p:sp>
      <p:sp>
        <p:nvSpPr>
          <p:cNvPr id="48" name="text-98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concurrent design must be correct under every interleaving, on one core or many.</a:t>
            </a:r>
            <a:endParaRPr lang="en-US" sz="2000" dirty="0"/>
          </a:p>
        </p:txBody>
      </p:sp>
      <p:sp>
        <p:nvSpPr>
          <p:cNvPr id="49" name="text-99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Pike, “Concurrency is not parallelism,” Heroku Waza, 2012 [Pik12]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write concurrent programs?</a:t>
            </a:r>
            <a:endParaRPr lang="en-US" sz="3400" dirty="0"/>
          </a:p>
        </p:txBody>
      </p:sp>
      <p:sp>
        <p:nvSpPr>
          <p:cNvPr id="3" name="card-100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0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02" descr="microch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332842" cy="332842"/>
          </a:xfrm>
          <a:prstGeom prst="rect">
            <a:avLst/>
          </a:prstGeom>
        </p:spPr>
      </p:pic>
      <p:sp>
        <p:nvSpPr>
          <p:cNvPr id="6" name="text-103"/>
          <p:cNvSpPr txBox="1"/>
          <p:nvPr/>
        </p:nvSpPr>
        <p:spPr>
          <a:xfrm>
            <a:off x="1508760" y="1600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Performance</a:t>
            </a:r>
            <a:endParaRPr lang="en-US" sz="1900" dirty="0"/>
          </a:p>
        </p:txBody>
      </p:sp>
      <p:sp>
        <p:nvSpPr>
          <p:cNvPr id="7" name="text-104"/>
          <p:cNvSpPr txBox="1"/>
          <p:nvPr/>
        </p:nvSpPr>
        <p:spPr>
          <a:xfrm>
            <a:off x="777240" y="23317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Chips now add cores instead of speed. One sequential program uses one core [Sut05].</a:t>
            </a:r>
            <a:endParaRPr lang="en-US" sz="1700" dirty="0"/>
          </a:p>
        </p:txBody>
      </p:sp>
      <p:sp>
        <p:nvSpPr>
          <p:cNvPr id="8" name="card-105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06"/>
          <p:cNvSpPr/>
          <p:nvPr/>
        </p:nvSpPr>
        <p:spPr>
          <a:xfrm>
            <a:off x="6400800" y="16002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-107" descr="hourglass hal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1730959"/>
            <a:ext cx="332842" cy="332842"/>
          </a:xfrm>
          <a:prstGeom prst="rect">
            <a:avLst/>
          </a:prstGeom>
        </p:spPr>
      </p:pic>
      <p:sp>
        <p:nvSpPr>
          <p:cNvPr id="11" name="text-108"/>
          <p:cNvSpPr txBox="1"/>
          <p:nvPr/>
        </p:nvSpPr>
        <p:spPr>
          <a:xfrm>
            <a:off x="7132320" y="1600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Throughput</a:t>
            </a:r>
            <a:endParaRPr lang="en-US" sz="1900" dirty="0"/>
          </a:p>
        </p:txBody>
      </p:sp>
      <p:sp>
        <p:nvSpPr>
          <p:cNvPr id="12" name="text-109"/>
          <p:cNvSpPr txBox="1"/>
          <p:nvPr/>
        </p:nvSpPr>
        <p:spPr>
          <a:xfrm>
            <a:off x="6400800" y="23317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While one task waits for the network or disk, others make progress.</a:t>
            </a:r>
            <a:endParaRPr lang="en-US" sz="1700" dirty="0"/>
          </a:p>
        </p:txBody>
      </p:sp>
      <p:sp>
        <p:nvSpPr>
          <p:cNvPr id="13" name="card-110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11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-112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062679"/>
            <a:ext cx="332842" cy="332842"/>
          </a:xfrm>
          <a:prstGeom prst="rect">
            <a:avLst/>
          </a:prstGeom>
        </p:spPr>
      </p:pic>
      <p:sp>
        <p:nvSpPr>
          <p:cNvPr id="16" name="text-113"/>
          <p:cNvSpPr txBox="1"/>
          <p:nvPr/>
        </p:nvSpPr>
        <p:spPr>
          <a:xfrm>
            <a:off x="1508760" y="3931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Responsiveness</a:t>
            </a:r>
            <a:endParaRPr lang="en-US" sz="1900" dirty="0"/>
          </a:p>
        </p:txBody>
      </p:sp>
      <p:sp>
        <p:nvSpPr>
          <p:cNvPr id="17" name="text-114"/>
          <p:cNvSpPr txBox="1"/>
          <p:nvPr/>
        </p:nvSpPr>
        <p:spPr>
          <a:xfrm>
            <a:off x="777240" y="46634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app keeps reacting to the user while slow work runs in the background.</a:t>
            </a:r>
            <a:endParaRPr lang="en-US" sz="1700" dirty="0"/>
          </a:p>
        </p:txBody>
      </p:sp>
      <p:sp>
        <p:nvSpPr>
          <p:cNvPr id="18" name="card-115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16"/>
          <p:cNvSpPr/>
          <p:nvPr/>
        </p:nvSpPr>
        <p:spPr>
          <a:xfrm>
            <a:off x="6400800" y="3931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117" descr="sitema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062679"/>
            <a:ext cx="332842" cy="332842"/>
          </a:xfrm>
          <a:prstGeom prst="rect">
            <a:avLst/>
          </a:prstGeom>
        </p:spPr>
      </p:pic>
      <p:sp>
        <p:nvSpPr>
          <p:cNvPr id="21" name="text-118"/>
          <p:cNvSpPr txBox="1"/>
          <p:nvPr/>
        </p:nvSpPr>
        <p:spPr>
          <a:xfrm>
            <a:off x="7132320" y="3931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Structure</a:t>
            </a:r>
            <a:endParaRPr lang="en-US" sz="1900" dirty="0"/>
          </a:p>
        </p:txBody>
      </p:sp>
      <p:sp>
        <p:nvSpPr>
          <p:cNvPr id="22" name="text-119"/>
          <p:cNvSpPr txBox="1"/>
          <p:nvPr/>
        </p:nvSpPr>
        <p:spPr>
          <a:xfrm>
            <a:off x="6400800" y="46634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Many independent activities: one thread each is often the clearest design.</a:t>
            </a:r>
            <a:endParaRPr lang="en-US" sz="1700" dirty="0"/>
          </a:p>
        </p:txBody>
      </p:sp>
      <p:sp>
        <p:nvSpPr>
          <p:cNvPr id="23" name="text-120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Adapted from [MK06] ch. 1; Sutter, “The free lunch is over,” Dr. Dobb’s Journal, 2005 [Sut05]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concurrent program</a:t>
            </a:r>
            <a:endParaRPr lang="en-US" sz="3400" dirty="0"/>
          </a:p>
        </p:txBody>
      </p:sp>
      <p:sp>
        <p:nvSpPr>
          <p:cNvPr id="3" name="code-panel-121"/>
          <p:cNvSpPr/>
          <p:nvPr/>
        </p:nvSpPr>
        <p:spPr>
          <a:xfrm>
            <a:off x="548640" y="1463040"/>
            <a:ext cx="60350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122"/>
          <p:cNvSpPr txBox="1"/>
          <p:nvPr/>
        </p:nvSpPr>
        <p:spPr>
          <a:xfrm>
            <a:off x="731520" y="16002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          </a:t>
            </a:r>
            <a:pPr indent="0" marL="0">
              <a:buNone/>
            </a:pPr>
            <a:r>
              <a:rPr lang="en-US" sz="24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shared variable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1:   x := x + 1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2:   x := x - 1</a:t>
            </a:r>
            <a:endParaRPr lang="en-US" sz="2400" dirty="0"/>
          </a:p>
        </p:txBody>
      </p:sp>
      <p:sp>
        <p:nvSpPr>
          <p:cNvPr id="5" name="text-123"/>
          <p:cNvSpPr txBox="1"/>
          <p:nvPr/>
        </p:nvSpPr>
        <p:spPr>
          <a:xfrm>
            <a:off x="548640" y="4114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Both processes run at the same time. What is x at the end?</a:t>
            </a:r>
            <a:endParaRPr lang="en-US" sz="2400" dirty="0"/>
          </a:p>
        </p:txBody>
      </p:sp>
      <p:sp>
        <p:nvSpPr>
          <p:cNvPr id="6" name="rect-124"/>
          <p:cNvSpPr/>
          <p:nvPr/>
        </p:nvSpPr>
        <p:spPr>
          <a:xfrm>
            <a:off x="7132320" y="146304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25"/>
          <p:cNvSpPr txBox="1"/>
          <p:nvPr/>
        </p:nvSpPr>
        <p:spPr>
          <a:xfrm>
            <a:off x="7223760" y="1508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−1</a:t>
            </a:r>
            <a:endParaRPr lang="en-US" sz="2600" dirty="0"/>
          </a:p>
        </p:txBody>
      </p:sp>
      <p:sp>
        <p:nvSpPr>
          <p:cNvPr id="8" name="rect-126"/>
          <p:cNvSpPr/>
          <p:nvPr/>
        </p:nvSpPr>
        <p:spPr>
          <a:xfrm>
            <a:off x="7132320" y="2542032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27"/>
          <p:cNvSpPr txBox="1"/>
          <p:nvPr/>
        </p:nvSpPr>
        <p:spPr>
          <a:xfrm>
            <a:off x="7223760" y="25877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0</a:t>
            </a:r>
            <a:endParaRPr lang="en-US" sz="2600" dirty="0"/>
          </a:p>
        </p:txBody>
      </p:sp>
      <p:sp>
        <p:nvSpPr>
          <p:cNvPr id="10" name="rect-128"/>
          <p:cNvSpPr/>
          <p:nvPr/>
        </p:nvSpPr>
        <p:spPr>
          <a:xfrm>
            <a:off x="7132320" y="3621024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29"/>
          <p:cNvSpPr txBox="1"/>
          <p:nvPr/>
        </p:nvSpPr>
        <p:spPr>
          <a:xfrm>
            <a:off x="7223760" y="36667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+1</a:t>
            </a:r>
            <a:endParaRPr lang="en-US" sz="2600" dirty="0"/>
          </a:p>
        </p:txBody>
      </p:sp>
      <p:sp>
        <p:nvSpPr>
          <p:cNvPr id="12" name="rect-130"/>
          <p:cNvSpPr/>
          <p:nvPr/>
        </p:nvSpPr>
        <p:spPr>
          <a:xfrm>
            <a:off x="7132320" y="4700016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-131"/>
          <p:cNvSpPr txBox="1"/>
          <p:nvPr/>
        </p:nvSpPr>
        <p:spPr>
          <a:xfrm>
            <a:off x="7223760" y="47457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it depends</a:t>
            </a:r>
            <a:endParaRPr lang="en-US" sz="2600" dirty="0"/>
          </a:p>
        </p:txBody>
      </p:sp>
      <p:sp>
        <p:nvSpPr>
          <p:cNvPr id="14" name="text-13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Example from Magee &amp; Kramer [MK06], ch. 1 slides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two atomic steps</a:t>
            </a:r>
            <a:endParaRPr lang="en-US" sz="3400" dirty="0"/>
          </a:p>
        </p:txBody>
      </p:sp>
      <p:sp>
        <p:nvSpPr>
          <p:cNvPr id="3" name="rect-133"/>
          <p:cNvSpPr/>
          <p:nvPr/>
        </p:nvSpPr>
        <p:spPr>
          <a:xfrm>
            <a:off x="4937760" y="155448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-134"/>
          <p:cNvSpPr txBox="1"/>
          <p:nvPr/>
        </p:nvSpPr>
        <p:spPr>
          <a:xfrm>
            <a:off x="502920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 = 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(shared memory)</a:t>
            </a:r>
            <a:endParaRPr lang="en-US" sz="1800" dirty="0"/>
          </a:p>
        </p:txBody>
      </p:sp>
      <p:sp>
        <p:nvSpPr>
          <p:cNvPr id="5" name="rect-135"/>
          <p:cNvSpPr/>
          <p:nvPr/>
        </p:nvSpPr>
        <p:spPr>
          <a:xfrm>
            <a:off x="1097280" y="374904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36"/>
          <p:cNvSpPr txBox="1"/>
          <p:nvPr/>
        </p:nvSpPr>
        <p:spPr>
          <a:xfrm>
            <a:off x="118872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register r1</a:t>
            </a:r>
            <a:endParaRPr lang="en-US" sz="1800" dirty="0"/>
          </a:p>
        </p:txBody>
      </p:sp>
      <p:sp>
        <p:nvSpPr>
          <p:cNvPr id="7" name="rect-137"/>
          <p:cNvSpPr/>
          <p:nvPr/>
        </p:nvSpPr>
        <p:spPr>
          <a:xfrm>
            <a:off x="8321040" y="374904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-138"/>
          <p:cNvSpPr txBox="1"/>
          <p:nvPr/>
        </p:nvSpPr>
        <p:spPr>
          <a:xfrm>
            <a:off x="841248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register r2</a:t>
            </a:r>
            <a:endParaRPr lang="en-US" sz="1800" dirty="0"/>
          </a:p>
        </p:txBody>
      </p:sp>
      <p:sp>
        <p:nvSpPr>
          <p:cNvPr id="9" name="line-139"/>
          <p:cNvSpPr/>
          <p:nvPr/>
        </p:nvSpPr>
        <p:spPr>
          <a:xfrm flipH="1">
            <a:off x="1737360" y="2103120"/>
            <a:ext cx="3200400" cy="16002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line-140"/>
          <p:cNvSpPr/>
          <p:nvPr/>
        </p:nvSpPr>
        <p:spPr>
          <a:xfrm flipV="1">
            <a:off x="3291840" y="2697480"/>
            <a:ext cx="1965960" cy="10058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1" name="line-141"/>
          <p:cNvSpPr/>
          <p:nvPr/>
        </p:nvSpPr>
        <p:spPr>
          <a:xfrm>
            <a:off x="7223760" y="2103120"/>
            <a:ext cx="3200400" cy="160020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line-142"/>
          <p:cNvSpPr/>
          <p:nvPr/>
        </p:nvSpPr>
        <p:spPr>
          <a:xfrm flipH="1" flipV="1">
            <a:off x="6903720" y="2697480"/>
            <a:ext cx="1965960" cy="100584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3" name="text-143"/>
          <p:cNvSpPr txBox="1"/>
          <p:nvPr/>
        </p:nvSpPr>
        <p:spPr>
          <a:xfrm>
            <a:off x="14630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R1: r1 = x</a:t>
            </a:r>
            <a:endParaRPr lang="en-US" sz="1600" dirty="0"/>
          </a:p>
        </p:txBody>
      </p:sp>
      <p:sp>
        <p:nvSpPr>
          <p:cNvPr id="14" name="text-144"/>
          <p:cNvSpPr txBox="1"/>
          <p:nvPr/>
        </p:nvSpPr>
        <p:spPr>
          <a:xfrm>
            <a:off x="43434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W1: x = r1 + 1</a:t>
            </a:r>
            <a:endParaRPr lang="en-US" sz="1600" dirty="0"/>
          </a:p>
        </p:txBody>
      </p:sp>
      <p:sp>
        <p:nvSpPr>
          <p:cNvPr id="15" name="text-145"/>
          <p:cNvSpPr txBox="1"/>
          <p:nvPr/>
        </p:nvSpPr>
        <p:spPr>
          <a:xfrm>
            <a:off x="89154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R2: r2 = x</a:t>
            </a:r>
            <a:endParaRPr lang="en-US" sz="1600" dirty="0"/>
          </a:p>
        </p:txBody>
      </p:sp>
      <p:sp>
        <p:nvSpPr>
          <p:cNvPr id="16" name="text-146"/>
          <p:cNvSpPr txBox="1"/>
          <p:nvPr/>
        </p:nvSpPr>
        <p:spPr>
          <a:xfrm>
            <a:off x="60350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W2: x = r2 − 1</a:t>
            </a:r>
            <a:endParaRPr lang="en-US" sz="1600" dirty="0"/>
          </a:p>
        </p:txBody>
      </p:sp>
      <p:sp>
        <p:nvSpPr>
          <p:cNvPr id="17" name="text-147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Each R and W is atomic: it happens completely or not at all. The line x := x + 1 is not.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interleavings, three different answers</a:t>
            </a:r>
            <a:endParaRPr lang="en-US" sz="3400" dirty="0"/>
          </a:p>
        </p:txBody>
      </p:sp>
      <p:graphicFrame>
        <p:nvGraphicFramePr>
          <p:cNvPr id="10" name="table-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step 1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step 2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step 3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step 4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1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final x</a:t>
                      </a:r>
                      <a:endParaRPr lang="en-US" sz="1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4" name="text-149"/>
          <p:cNvSpPr txBox="1"/>
          <p:nvPr/>
        </p:nvSpPr>
        <p:spPr>
          <a:xfrm>
            <a:off x="8412480" y="1463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Race condition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result depends on the timing of the threads.</a:t>
            </a:r>
            <a:endParaRPr lang="en-US" sz="18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Non-deterministic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Same program, same input, different results from run to run.</a:t>
            </a:r>
            <a:endParaRPr lang="en-US" sz="1800" dirty="0"/>
          </a:p>
        </p:txBody>
      </p:sp>
      <p:sp>
        <p:nvSpPr>
          <p:cNvPr id="5" name="text-150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Interleaving 2: both processes read 0, so process 1’s write is overwritten. A lost update.</a:t>
            </a:r>
            <a:endParaRPr lang="en-US" sz="1900" dirty="0"/>
          </a:p>
        </p:txBody>
      </p:sp>
      <p:sp>
        <p:nvSpPr>
          <p:cNvPr id="6" name="text-15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Table from Magee &amp; Kramer [MK06], ch. 1 slides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lost likes</a:t>
            </a:r>
            <a:endParaRPr lang="en-US" sz="3400" dirty="0"/>
          </a:p>
        </p:txBody>
      </p:sp>
      <p:sp>
        <p:nvSpPr>
          <p:cNvPr id="3" name="code-panel-152"/>
          <p:cNvSpPr/>
          <p:nvPr/>
        </p:nvSpPr>
        <p:spPr>
          <a:xfrm>
            <a:off x="548640" y="1463040"/>
            <a:ext cx="5760720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153"/>
          <p:cNvSpPr txBox="1"/>
          <p:nvPr/>
        </p:nvSpPr>
        <p:spPr>
          <a:xfrm>
            <a:off x="731520" y="16002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volatile int likes = 0;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like()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likes = likes + 1;  </a:t>
            </a:r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atomic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threads, each calls like()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1,000,000 times</a:t>
            </a:r>
            <a:endParaRPr lang="en-US" sz="1800" dirty="0"/>
          </a:p>
        </p:txBody>
      </p:sp>
      <p:sp>
        <p:nvSpPr>
          <p:cNvPr id="5" name="text-154"/>
          <p:cNvSpPr txBox="1"/>
          <p:nvPr/>
        </p:nvSpPr>
        <p:spPr>
          <a:xfrm>
            <a:off x="548640" y="11155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LikeCounter.java</a:t>
            </a:r>
            <a:endParaRPr lang="en-US" sz="1400" dirty="0"/>
          </a:p>
        </p:txBody>
      </p:sp>
      <p:sp>
        <p:nvSpPr>
          <p:cNvPr id="6" name="text-155"/>
          <p:cNvSpPr txBox="1"/>
          <p:nvPr/>
        </p:nvSpPr>
        <p:spPr>
          <a:xfrm>
            <a:off x="6766560" y="1280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</a:t>
            </a:r>
            <a:endParaRPr lang="en-US" sz="4800" dirty="0"/>
          </a:p>
        </p:txBody>
      </p:sp>
      <p:sp>
        <p:nvSpPr>
          <p:cNvPr id="7" name="text-156"/>
          <p:cNvSpPr txBox="1"/>
          <p:nvPr/>
        </p:nvSpPr>
        <p:spPr>
          <a:xfrm>
            <a:off x="676656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likes expected (2 users × 1,000,000)</a:t>
            </a:r>
            <a:endParaRPr lang="en-US" sz="1500" dirty="0"/>
          </a:p>
        </p:txBody>
      </p:sp>
      <p:sp>
        <p:nvSpPr>
          <p:cNvPr id="8" name="text-157"/>
          <p:cNvSpPr txBox="1"/>
          <p:nvPr/>
        </p:nvSpPr>
        <p:spPr>
          <a:xfrm>
            <a:off x="676656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≈1,050,000</a:t>
            </a:r>
            <a:endParaRPr lang="en-US" sz="4800" dirty="0"/>
          </a:p>
        </p:txBody>
      </p:sp>
      <p:sp>
        <p:nvSpPr>
          <p:cNvPr id="9" name="text-158"/>
          <p:cNvSpPr txBox="1"/>
          <p:nvPr/>
        </p:nvSpPr>
        <p:spPr>
          <a:xfrm>
            <a:off x="6766560" y="3840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likes counted, and different on every run</a:t>
            </a:r>
            <a:endParaRPr lang="en-US" sz="1500" dirty="0"/>
          </a:p>
        </p:txBody>
      </p:sp>
      <p:sp>
        <p:nvSpPr>
          <p:cNvPr id="10" name="text-159"/>
          <p:cNvSpPr txBox="1"/>
          <p:nvPr/>
        </p:nvSpPr>
        <p:spPr>
          <a:xfrm>
            <a:off x="676656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user: 0 lost</a:t>
            </a:r>
            <a:endParaRPr lang="en-US" sz="3600" dirty="0"/>
          </a:p>
        </p:txBody>
      </p:sp>
      <p:sp>
        <p:nvSpPr>
          <p:cNvPr id="11" name="text-160"/>
          <p:cNvSpPr txBox="1"/>
          <p:nvPr/>
        </p:nvSpPr>
        <p:spPr>
          <a:xfrm>
            <a:off x="67665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 other thread, no interleaving, no race</a:t>
            </a:r>
            <a:endParaRPr lang="en-US" sz="1500" dirty="0"/>
          </a:p>
        </p:txBody>
      </p:sp>
      <p:sp>
        <p:nvSpPr>
          <p:cNvPr id="12" name="text-16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Sample results: 16-core laptop, JDK 25. Run it yourself: LikeCounter in the Maven project week1-introduction/exercises/starter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testing is not enough</a:t>
            </a:r>
            <a:endParaRPr lang="en-US" sz="3400" dirty="0"/>
          </a:p>
        </p:txBody>
      </p:sp>
      <p:sp>
        <p:nvSpPr>
          <p:cNvPr id="3" name="text-162"/>
          <p:cNvSpPr txBox="1"/>
          <p:nvPr/>
        </p:nvSpPr>
        <p:spPr>
          <a:xfrm>
            <a:off x="548640" y="1417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2 + 2 steps</a:t>
            </a:r>
            <a:endParaRPr lang="en-US" sz="2000" dirty="0"/>
          </a:p>
        </p:txBody>
      </p:sp>
      <p:sp>
        <p:nvSpPr>
          <p:cNvPr id="4" name="text-163"/>
          <p:cNvSpPr txBox="1"/>
          <p:nvPr/>
        </p:nvSpPr>
        <p:spPr>
          <a:xfrm>
            <a:off x="3017520" y="1417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5" name="text-164"/>
          <p:cNvSpPr txBox="1"/>
          <p:nvPr/>
        </p:nvSpPr>
        <p:spPr>
          <a:xfrm>
            <a:off x="548640" y="2468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4 + 4 steps</a:t>
            </a:r>
            <a:endParaRPr lang="en-US" sz="2000" dirty="0"/>
          </a:p>
        </p:txBody>
      </p:sp>
      <p:sp>
        <p:nvSpPr>
          <p:cNvPr id="6" name="text-165"/>
          <p:cNvSpPr txBox="1"/>
          <p:nvPr/>
        </p:nvSpPr>
        <p:spPr>
          <a:xfrm>
            <a:off x="3017520" y="2468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7" name="text-166"/>
          <p:cNvSpPr txBox="1"/>
          <p:nvPr/>
        </p:nvSpPr>
        <p:spPr>
          <a:xfrm>
            <a:off x="54864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10 + 10 steps</a:t>
            </a:r>
            <a:endParaRPr lang="en-US" sz="2000" dirty="0"/>
          </a:p>
        </p:txBody>
      </p:sp>
      <p:sp>
        <p:nvSpPr>
          <p:cNvPr id="8" name="text-167"/>
          <p:cNvSpPr txBox="1"/>
          <p:nvPr/>
        </p:nvSpPr>
        <p:spPr>
          <a:xfrm>
            <a:off x="3017520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184,756</a:t>
            </a:r>
            <a:endParaRPr lang="en-US" sz="3400" dirty="0"/>
          </a:p>
        </p:txBody>
      </p:sp>
      <p:sp>
        <p:nvSpPr>
          <p:cNvPr id="9" name="text-168"/>
          <p:cNvSpPr txBox="1"/>
          <p:nvPr/>
        </p:nvSpPr>
        <p:spPr>
          <a:xfrm>
            <a:off x="548640" y="4572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20 + 20 steps</a:t>
            </a:r>
            <a:endParaRPr lang="en-US" sz="2000" dirty="0"/>
          </a:p>
        </p:txBody>
      </p:sp>
      <p:sp>
        <p:nvSpPr>
          <p:cNvPr id="10" name="text-169"/>
          <p:cNvSpPr txBox="1"/>
          <p:nvPr/>
        </p:nvSpPr>
        <p:spPr>
          <a:xfrm>
            <a:off x="3017520" y="4572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137,846,528,820</a:t>
            </a:r>
            <a:endParaRPr lang="en-US" sz="3800" dirty="0"/>
          </a:p>
        </p:txBody>
      </p:sp>
      <p:sp>
        <p:nvSpPr>
          <p:cNvPr id="11" name="text-170"/>
          <p:cNvSpPr txBox="1"/>
          <p:nvPr/>
        </p:nvSpPr>
        <p:spPr>
          <a:xfrm>
            <a:off x="548640" y="5623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interleavings of two processes</a:t>
            </a:r>
            <a:endParaRPr lang="en-US" sz="1500" dirty="0"/>
          </a:p>
        </p:txBody>
      </p:sp>
      <p:sp>
        <p:nvSpPr>
          <p:cNvPr id="12" name="bullets-171"/>
          <p:cNvSpPr txBox="1"/>
          <p:nvPr/>
        </p:nvSpPr>
        <p:spPr>
          <a:xfrm>
            <a:off x="7680960" y="155448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 bad interleavings may be rare: a test passes 10,000 times, then fails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They depend on cores, load and compiler: “works on my laptop”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Debugging changes the timing, so the bug hides (a “Heisenbug”)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concurrency goes wrong</a:t>
            </a:r>
            <a:endParaRPr lang="en-US" sz="3400" dirty="0"/>
          </a:p>
        </p:txBody>
      </p:sp>
      <p:sp>
        <p:nvSpPr>
          <p:cNvPr id="3" name="card-172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7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174" descr="radi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6" name="text-175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Therac-25 · 1985–87</a:t>
            </a:r>
            <a:endParaRPr lang="en-US" sz="1800" dirty="0"/>
          </a:p>
        </p:txBody>
      </p:sp>
      <p:sp>
        <p:nvSpPr>
          <p:cNvPr id="7" name="text-176"/>
          <p:cNvSpPr txBox="1"/>
          <p:nvPr/>
        </p:nvSpPr>
        <p:spPr>
          <a:xfrm>
            <a:off x="777240" y="242316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Radiation therapy machine gave massive overdoses. A race between operator input and machine set-up was among the causes [LT93].</a:t>
            </a:r>
            <a:endParaRPr lang="en-US" sz="1700" dirty="0"/>
          </a:p>
        </p:txBody>
      </p:sp>
      <p:sp>
        <p:nvSpPr>
          <p:cNvPr id="8" name="card-177"/>
          <p:cNvSpPr/>
          <p:nvPr/>
        </p:nvSpPr>
        <p:spPr>
          <a:xfrm>
            <a:off x="429768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78"/>
          <p:cNvSpPr/>
          <p:nvPr/>
        </p:nvSpPr>
        <p:spPr>
          <a:xfrm>
            <a:off x="4526280" y="16916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179" descr="rock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822399"/>
            <a:ext cx="332842" cy="332842"/>
          </a:xfrm>
          <a:prstGeom prst="rect">
            <a:avLst/>
          </a:prstGeom>
        </p:spPr>
      </p:pic>
      <p:sp>
        <p:nvSpPr>
          <p:cNvPr id="11" name="text-180"/>
          <p:cNvSpPr txBox="1"/>
          <p:nvPr/>
        </p:nvSpPr>
        <p:spPr>
          <a:xfrm>
            <a:off x="525780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Mars Pathfinder · 1997</a:t>
            </a:r>
            <a:endParaRPr lang="en-US" sz="1800" dirty="0"/>
          </a:p>
        </p:txBody>
      </p:sp>
      <p:sp>
        <p:nvSpPr>
          <p:cNvPr id="12" name="text-181"/>
          <p:cNvSpPr txBox="1"/>
          <p:nvPr/>
        </p:nvSpPr>
        <p:spPr>
          <a:xfrm>
            <a:off x="4526280" y="242316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Repeated resets on Mars. Priority inversion on a shared lock; fixed by a patch sent from Earth [Ree97].</a:t>
            </a:r>
            <a:endParaRPr lang="en-US" sz="1700" dirty="0"/>
          </a:p>
        </p:txBody>
      </p:sp>
      <p:sp>
        <p:nvSpPr>
          <p:cNvPr id="13" name="card-182"/>
          <p:cNvSpPr/>
          <p:nvPr/>
        </p:nvSpPr>
        <p:spPr>
          <a:xfrm>
            <a:off x="8046720" y="1463040"/>
            <a:ext cx="3520440" cy="402336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83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184" descr="plu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822399"/>
            <a:ext cx="332842" cy="332842"/>
          </a:xfrm>
          <a:prstGeom prst="rect">
            <a:avLst/>
          </a:prstGeom>
        </p:spPr>
      </p:pic>
      <p:sp>
        <p:nvSpPr>
          <p:cNvPr id="16" name="text-185"/>
          <p:cNvSpPr txBox="1"/>
          <p:nvPr/>
        </p:nvSpPr>
        <p:spPr>
          <a:xfrm>
            <a:off x="900684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Northeast blackout · 2003</a:t>
            </a:r>
            <a:endParaRPr lang="en-US" sz="1800" dirty="0"/>
          </a:p>
        </p:txBody>
      </p:sp>
      <p:sp>
        <p:nvSpPr>
          <p:cNvPr id="17" name="text-186"/>
          <p:cNvSpPr txBox="1"/>
          <p:nvPr/>
        </p:nvSpPr>
        <p:spPr>
          <a:xfrm>
            <a:off x="8275320" y="242316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About 50 million people lost power. Among several causes, the control-room alarms failed silently [TF04]; the vendor traced that to a race condition [Reg04].</a:t>
            </a:r>
            <a:endParaRPr lang="en-US" sz="1700" dirty="0"/>
          </a:p>
        </p:txBody>
      </p:sp>
      <p:sp>
        <p:nvSpPr>
          <p:cNvPr id="18" name="text-187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Leveson &amp; Turner, IEEE Computer, 1993; Reeves, 1997; U.S.–Canada Power System Outage Task Force, 2004. See REFERENCES.md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states</a:t>
            </a:r>
            <a:endParaRPr lang="en-US" sz="3400" dirty="0"/>
          </a:p>
        </p:txBody>
      </p:sp>
      <p:pic>
        <p:nvPicPr>
          <p:cNvPr id="3" name="image-188" descr="State diagram for a ride-share driver: 4 states, starting in OFFLINE. Transitions: from OFFLINE, action go_online leads to AVAILABLE; from AVAILABLE, action go_offline leads to OFFLINE; from AVAILABLE, action accept_ride leads to EN_ROUTE; from EN_ROUTE, action rider_cancels leads to AVAILABLE; from EN_ROUTE, action pick_up leads to ON_TRIP; from ON_TRIP, action drop_off leads to AVAILAB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2857"/>
            <a:ext cx="7040880" cy="1877965"/>
          </a:xfrm>
          <a:prstGeom prst="rect">
            <a:avLst/>
          </a:prstGeom>
        </p:spPr>
      </p:pic>
      <p:sp>
        <p:nvSpPr>
          <p:cNvPr id="4" name="bullets-189"/>
          <p:cNvSpPr txBox="1"/>
          <p:nvPr/>
        </p:nvSpPr>
        <p:spPr>
          <a:xfrm>
            <a:off x="7863840" y="1463040"/>
            <a:ext cx="37764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States (circles): the situations the system can be 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Transitions (arrows): labelled with the action that causes them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Trace: go_online accept_ride pick_up drop_off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Impossible: go_online pick_up</a:t>
            </a:r>
            <a:endParaRPr lang="en-US" sz="1800" dirty="0"/>
          </a:p>
        </p:txBody>
      </p:sp>
      <p:sp>
        <p:nvSpPr>
          <p:cNvPr id="5" name="text-190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diagram leaves out detail (location, fare) and keeps what matters here: what can happen next.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week’s exercises (about 60 minutes)</a:t>
            </a:r>
            <a:endParaRPr lang="en-US" sz="3400" dirty="0"/>
          </a:p>
        </p:txBody>
      </p:sp>
      <p:sp>
        <p:nvSpPr>
          <p:cNvPr id="3" name="card-191"/>
          <p:cNvSpPr/>
          <p:nvPr/>
        </p:nvSpPr>
        <p:spPr>
          <a:xfrm>
            <a:off x="548640" y="1463040"/>
            <a:ext cx="35661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9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93" descr="jav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6" name="text-194"/>
          <p:cNvSpPr txBox="1"/>
          <p:nvPr/>
        </p:nvSpPr>
        <p:spPr>
          <a:xfrm>
            <a:off x="1508760" y="1691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Java 21+ &amp; Maven</a:t>
            </a:r>
            <a:endParaRPr lang="en-US" sz="1900" dirty="0"/>
          </a:p>
        </p:txBody>
      </p:sp>
      <p:sp>
        <p:nvSpPr>
          <p:cNvPr id="7" name="text-195"/>
          <p:cNvSpPr txBox="1"/>
          <p:nvPr/>
        </p:nvSpPr>
        <p:spPr>
          <a:xfrm>
            <a:off x="777240" y="2423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code is in the Maven project exercises/starter. See SETUP.md.</a:t>
            </a:r>
            <a:endParaRPr lang="en-US" sz="1600" dirty="0"/>
          </a:p>
        </p:txBody>
      </p:sp>
      <p:graphicFrame>
        <p:nvGraphicFramePr>
          <p:cNvPr id="15" name="table-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463040"/>
          <a:ext cx="725119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1371600"/>
                <a:gridCol w="1399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Kind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Interleavings by hand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Lost likes: run and explain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Concurrent downloads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 state diagram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text-197"/>
          <p:cNvSpPr txBox="1"/>
          <p:nvPr/>
        </p:nvSpPr>
        <p:spPr>
          <a:xfrm>
            <a:off x="4389120" y="4572000"/>
            <a:ext cx="7251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Finished early? Try the optional extras: the interleavings challenge (exercises/challenge) or fixing the lost likes.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bullets-198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Concurrency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Several threads of control in progress at once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Not the same as parallelism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Races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Results depend on the interleaving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Testing alone cannot rule them out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State diagrams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Show what can happen next, and in what order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35040" y="1463040"/>
            <a:ext cx="5605272" cy="365760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-199"/>
          <p:cNvSpPr txBox="1"/>
          <p:nvPr/>
        </p:nvSpPr>
        <p:spPr>
          <a:xfrm>
            <a:off x="6309360" y="1691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Quick check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1. In one sentence: concurrency vs parallelism?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2. Two threads each run count = count + 1 once. count starts at 5. Possible final values?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-200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Magee, J. &amp; Kramer, J. (2006). Concurrency: State Models &amp; Java Programs, 2nd ed. Wiley. Lecture slides: doc.ic.ac.uk/~jnm/book  [MK06]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Pike, R. (2012). Concurrency is not parallelism. Heroku Waza. go.dev/blog/waza-talk  [Pik12]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Sutter, H. (2005). The free lunch is over. Dr. Dobb’s Journal 30(3)  [Sut05]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Leveson, N. &amp; Turner, C. (1993). An investigation of the Therac-25 accidents. IEEE Computer 26(7)  [LT93]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Reeves, G. (1997). What really happened on Mars? (Mars Pathfinder)  [Ree97]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U.S.–Canada Power System Outage Task Force (2004). Final report on the August 14, 2003 blackout; Poulsen, K. (2004), The Register  [TF04], [Reg04]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urrency Course">
  <a:themeElements>
    <a:clrScheme name="Concurrency Course">
      <a:dk1>
        <a:srgbClr val="1B2A41"/>
      </a:dk1>
      <a:lt1>
        <a:srgbClr val="FFFFFF"/>
      </a:lt1>
      <a:dk2>
        <a:srgbClr val="0E7C7B"/>
      </a:dk2>
      <a:lt2>
        <a:srgbClr val="EEF3F6"/>
      </a:lt2>
      <a:accent1>
        <a:srgbClr val="0E7C7B"/>
      </a:accent1>
      <a:accent2>
        <a:srgbClr val="F4A259"/>
      </a:accent2>
      <a:accent3>
        <a:srgbClr val="BC4B51"/>
      </a:accent3>
      <a:accent4>
        <a:srgbClr val="3D5A80"/>
      </a:accent4>
      <a:accent5>
        <a:srgbClr val="5B6B7F"/>
      </a:accent5>
      <a:accent6>
        <a:srgbClr val="D7EFEE"/>
      </a:accent6>
      <a:hlink>
        <a:srgbClr val="0E7C7B"/>
      </a:hlink>
      <a:folHlink>
        <a:srgbClr val="3D5A80"/>
      </a:folHlink>
    </a:clrScheme>
    <a:fontScheme name="Concurrency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II · Concurrency · Week 1: Introduction</dc:title>
  <dc:subject>PptxGenJS Presentation</dc:subject>
  <dc:creator>CS II</dc:creator>
  <cp:lastModifiedBy>CS II</cp:lastModifiedBy>
  <cp:revision>1</cp:revision>
  <dcterms:created xsi:type="dcterms:W3CDTF">2026-10-27T14:29:08Z</dcterms:created>
  <dcterms:modified xsi:type="dcterms:W3CDTF">2026-10-27T14:29:08Z</dcterms:modified>
</cp:coreProperties>
</file>