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d909328-bd7a-8cdd-528a-5cd050fcad90}">
          <p14:sldIdLst>
            <p14:sldId id="256"/>
            <p14:sldId id="257"/>
            <p14:sldId id="258"/>
          </p14:sldIdLst>
        </p14:section>
        <p14:section name="Modelling processes" id="{b65657b4-d62a-af92-a804-cbb2534fa717}">
          <p14:sldIdLst>
            <p14:sldId id="259"/>
          </p14:sldIdLst>
        </p14:section>
        <p14:section name="Processes as state diagrams" id="{57676200-b240-3920-ca48-cccd137cf5fc}">
          <p14:sldIdLst>
            <p14:sldId id="260"/>
            <p14:sldId id="261"/>
          </p14:sldIdLst>
        </p14:section>
        <p14:section name="Java threads" id="{a26bea0d-2c9b-0504-07f5-edc8ee9cc425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Wrap-up" id="{c022091d-fc2f-b503-be7e-2e7c3161760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Adapted from J. Magee &amp; J. Kramer, Concurrency: State Models &amp; Java Programs, 2nd ed. (Wiley, 2006) and its lecture slides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CS II · Concurrency · Week 2: Processes &amp; Threads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Processes and Threads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Week 2 · Processes as state diagrams, and programming them as Java threads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</a:t>
            </a:r>
            <a:endParaRPr lang="en-US" sz="3400" dirty="0"/>
          </a:p>
        </p:txBody>
      </p:sp>
      <p:sp>
        <p:nvSpPr>
          <p:cNvPr id="3" name="icon-bg-1"/>
          <p:cNvSpPr/>
          <p:nvPr/>
        </p:nvSpPr>
        <p:spPr>
          <a:xfrm>
            <a:off x="548640" y="155448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-2" descr="quest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5" y="1775765"/>
            <a:ext cx="563270" cy="563270"/>
          </a:xfrm>
          <a:prstGeom prst="rect">
            <a:avLst/>
          </a:prstGeom>
        </p:spPr>
      </p:pic>
      <p:sp>
        <p:nvSpPr>
          <p:cNvPr id="5" name="code-panel-3"/>
          <p:cNvSpPr/>
          <p:nvPr/>
        </p:nvSpPr>
        <p:spPr>
          <a:xfrm>
            <a:off x="1920240" y="1554480"/>
            <a:ext cx="685800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ode-4"/>
          <p:cNvSpPr txBox="1"/>
          <p:nvPr/>
        </p:nvSpPr>
        <p:spPr>
          <a:xfrm>
            <a:off x="2103120" y="169164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5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A:   count = count + 1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B:   count = count + 1</a:t>
            </a:r>
            <a:endParaRPr lang="en-US" sz="2200" dirty="0"/>
          </a:p>
        </p:txBody>
      </p:sp>
      <p:sp>
        <p:nvSpPr>
          <p:cNvPr id="7" name="text-5"/>
          <p:cNvSpPr txBox="1"/>
          <p:nvPr/>
        </p:nvSpPr>
        <p:spPr>
          <a:xfrm>
            <a:off x="1920240" y="40233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final values of count are possible? Why?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processes and threads</a:t>
            </a:r>
            <a:endParaRPr lang="en-US" sz="3400" dirty="0"/>
          </a:p>
        </p:txBody>
      </p:sp>
      <p:sp>
        <p:nvSpPr>
          <p:cNvPr id="3" name="card-6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7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-8" descr="lightbulb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22399"/>
            <a:ext cx="332842" cy="332842"/>
          </a:xfrm>
          <a:prstGeom prst="rect">
            <a:avLst/>
          </a:prstGeom>
        </p:spPr>
      </p:pic>
      <p:sp>
        <p:nvSpPr>
          <p:cNvPr id="6" name="text-9"/>
          <p:cNvSpPr txBox="1"/>
          <p:nvPr/>
        </p:nvSpPr>
        <p:spPr>
          <a:xfrm>
            <a:off x="15087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Concepts</a:t>
            </a:r>
            <a:endParaRPr lang="en-US" sz="1900" dirty="0"/>
          </a:p>
        </p:txBody>
      </p:sp>
      <p:sp>
        <p:nvSpPr>
          <p:cNvPr id="7" name="text-10"/>
          <p:cNvSpPr txBox="1"/>
          <p:nvPr/>
        </p:nvSpPr>
        <p:spPr>
          <a:xfrm>
            <a:off x="777240" y="242316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process is a unit of sequential execution: a sequence of actions</a:t>
            </a:r>
            <a:endParaRPr lang="en-US" sz="1800" dirty="0"/>
          </a:p>
        </p:txBody>
      </p:sp>
      <p:sp>
        <p:nvSpPr>
          <p:cNvPr id="8" name="card-11"/>
          <p:cNvSpPr/>
          <p:nvPr/>
        </p:nvSpPr>
        <p:spPr>
          <a:xfrm>
            <a:off x="4297680" y="1463040"/>
            <a:ext cx="352044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12"/>
          <p:cNvSpPr/>
          <p:nvPr/>
        </p:nvSpPr>
        <p:spPr>
          <a:xfrm>
            <a:off x="4526280" y="1691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13" descr="project diagram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1822399"/>
            <a:ext cx="332842" cy="332842"/>
          </a:xfrm>
          <a:prstGeom prst="rect">
            <a:avLst/>
          </a:prstGeom>
        </p:spPr>
      </p:pic>
      <p:sp>
        <p:nvSpPr>
          <p:cNvPr id="11" name="text-14"/>
          <p:cNvSpPr txBox="1"/>
          <p:nvPr/>
        </p:nvSpPr>
        <p:spPr>
          <a:xfrm>
            <a:off x="525780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State diagrams</a:t>
            </a:r>
            <a:endParaRPr lang="en-US" sz="1900" dirty="0"/>
          </a:p>
        </p:txBody>
      </p:sp>
      <p:sp>
        <p:nvSpPr>
          <p:cNvPr id="12" name="text-15"/>
          <p:cNvSpPr txBox="1"/>
          <p:nvPr/>
        </p:nvSpPr>
        <p:spPr>
          <a:xfrm>
            <a:off x="4526280" y="242316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Draw a process as states joined by arrows labelled with actions</a:t>
            </a:r>
            <a:endParaRPr lang="en-US" sz="1800" dirty="0"/>
          </a:p>
        </p:txBody>
      </p:sp>
      <p:sp>
        <p:nvSpPr>
          <p:cNvPr id="13" name="card-16"/>
          <p:cNvSpPr/>
          <p:nvPr/>
        </p:nvSpPr>
        <p:spPr>
          <a:xfrm>
            <a:off x="8046720" y="1463040"/>
            <a:ext cx="352044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17"/>
          <p:cNvSpPr/>
          <p:nvPr/>
        </p:nvSpPr>
        <p:spPr>
          <a:xfrm>
            <a:off x="8275320" y="169164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-18" descr="java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079" y="1822399"/>
            <a:ext cx="332842" cy="332842"/>
          </a:xfrm>
          <a:prstGeom prst="rect">
            <a:avLst/>
          </a:prstGeom>
        </p:spPr>
      </p:pic>
      <p:sp>
        <p:nvSpPr>
          <p:cNvPr id="16" name="text-19"/>
          <p:cNvSpPr txBox="1"/>
          <p:nvPr/>
        </p:nvSpPr>
        <p:spPr>
          <a:xfrm>
            <a:off x="900684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Practice</a:t>
            </a:r>
            <a:endParaRPr lang="en-US" sz="1900" dirty="0"/>
          </a:p>
        </p:txBody>
      </p:sp>
      <p:sp>
        <p:nvSpPr>
          <p:cNvPr id="17" name="text-20"/>
          <p:cNvSpPr txBox="1"/>
          <p:nvPr/>
        </p:nvSpPr>
        <p:spPr>
          <a:xfrm>
            <a:off x="8275320" y="242316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Java threads: Thread, Runnable, lambdas, virtual threads, life cycle</a:t>
            </a:r>
            <a:endParaRPr lang="en-US" sz="1800" dirty="0"/>
          </a:p>
        </p:txBody>
      </p:sp>
      <p:sp>
        <p:nvSpPr>
          <p:cNvPr id="18" name="text-21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Structure from Magee &amp; Kramer [MK06], ch.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process is a sequence of actions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2"/>
          <p:cNvSpPr txBox="1"/>
          <p:nvPr/>
        </p:nvSpPr>
        <p:spPr>
          <a:xfrm>
            <a:off x="822960" y="16002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 process is a sequence of actions. We draw it as a state diagram: it moves from state to state by performing atomic actions.</a:t>
            </a:r>
            <a:endParaRPr lang="en-US" sz="2200" dirty="0"/>
          </a:p>
        </p:txBody>
      </p:sp>
      <p:sp>
        <p:nvSpPr>
          <p:cNvPr id="5" name="text-23"/>
          <p:cNvSpPr txBox="1"/>
          <p:nvPr/>
        </p:nvSpPr>
        <p:spPr>
          <a:xfrm>
            <a:off x="54864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 light switch</a:t>
            </a:r>
            <a:endParaRPr lang="en-US" sz="1800" dirty="0"/>
          </a:p>
        </p:txBody>
      </p:sp>
      <p:pic>
        <p:nvPicPr>
          <p:cNvPr id="6" name="image-24" descr="State diagram for SWITCH: 2 states, starting in OFF. Transitions: from OFF, action on leads to ON; from ON, action off leads to OFF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0419"/>
            <a:ext cx="4572000" cy="1843162"/>
          </a:xfrm>
          <a:prstGeom prst="rect">
            <a:avLst/>
          </a:prstGeom>
        </p:spPr>
      </p:pic>
      <p:sp>
        <p:nvSpPr>
          <p:cNvPr id="7" name="bullets-25"/>
          <p:cNvSpPr txBox="1"/>
          <p:nvPr/>
        </p:nvSpPr>
        <p:spPr>
          <a:xfrm>
            <a:off x="5943600" y="329184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Trace: on off on off on off …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Finite states, infinite trace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Each state = what can still happen from there</a:t>
            </a:r>
            <a:endParaRPr lang="en-US" sz="2000" dirty="0"/>
          </a:p>
        </p:txBody>
      </p:sp>
      <p:sp>
        <p:nvSpPr>
          <p:cNvPr id="8" name="text-26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Definition and example from Magee &amp; Kramer [MK06], ch.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Choice: who decides?</a:t>
            </a:r>
            <a:endParaRPr lang="en-US" sz="3400" dirty="0"/>
          </a:p>
        </p:txBody>
      </p:sp>
      <p:pic>
        <p:nvPicPr>
          <p:cNvPr id="3" name="image-27" descr="State diagram for a coin: 3 states, starting in READY. Transitions: from READY, action toss leads to TAILS; from READY, action toss leads to HEADS; from TAILS, action tails leads to READY; from HEADS, action heads leads to READ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064846" cy="4023360"/>
          </a:xfrm>
          <a:prstGeom prst="rect">
            <a:avLst/>
          </a:prstGeom>
        </p:spPr>
      </p:pic>
      <p:sp>
        <p:nvSpPr>
          <p:cNvPr id="4" name="bullets-28"/>
          <p:cNvSpPr txBox="1"/>
          <p:nvPr/>
        </p:nvSpPr>
        <p:spPr>
          <a:xfrm>
            <a:off x="6400800" y="1554480"/>
            <a:ext cx="52395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Different actions out of a state: whoever acts next chooses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same action twice (toss): the coin itself decides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is non-deterministic choice: good for things we cannot control, like a lost message</a:t>
            </a:r>
            <a:endParaRPr lang="en-US" sz="2000" dirty="0"/>
          </a:p>
        </p:txBody>
      </p:sp>
      <p:sp>
        <p:nvSpPr>
          <p:cNvPr id="5" name="text-29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Coin example from Magee &amp; Kramer [MK06], ch.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countdown timer</a:t>
            </a:r>
            <a:endParaRPr lang="en-US" sz="3400" dirty="0"/>
          </a:p>
        </p:txBody>
      </p:sp>
      <p:pic>
        <p:nvPicPr>
          <p:cNvPr id="3" name="image-30" descr="State diagram for the countdown timer: 6 states, starting in READY. Transitions: from READY, action start leads to 3 LEFT; from 3 LEFT, action tick leads to 2 LEFT; from 3 LEFT, action stop leads to DONE; from 2 LEFT, action tick leads to 1 LEFT; from 2 LEFT, action stop leads to DONE; from 1 LEFT, action tick leads to 0 LEFT; from 1 LEFT, action stop leads to DONE; from 0 LEFT, actions beep or stop lead to DONE. DONE has no outgoing transitions (the process stops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235" y="1463040"/>
            <a:ext cx="9143225" cy="3291840"/>
          </a:xfrm>
          <a:prstGeom prst="rect">
            <a:avLst/>
          </a:prstGeom>
        </p:spPr>
      </p:pic>
      <p:sp>
        <p:nvSpPr>
          <p:cNvPr id="4" name="text-31"/>
          <p:cNvSpPr txBox="1"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Beeps after counting down, unless stopped first. DONE has no way out: the timer has finished. Later today we turn this diagram into a Java thread.</a:t>
            </a:r>
            <a:endParaRPr lang="en-US" sz="1900" dirty="0"/>
          </a:p>
        </p:txBody>
      </p:sp>
      <p:sp>
        <p:nvSpPr>
          <p:cNvPr id="5" name="text-32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After the COUNTDOWN example in Magee &amp; Kramer [MK06], ch.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processes in Java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From the model (process) to the program (thread)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Processes and threads: the OS 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766560" cy="4297680"/>
          </a:xfrm>
          <a:prstGeom prst="roundRect">
            <a:avLst>
              <a:gd name="adj" fmla="val 2128"/>
            </a:avLst>
          </a:prstGeom>
          <a:solidFill>
            <a:schemeClr val="bg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4" name="text-33"/>
          <p:cNvSpPr txBox="1"/>
          <p:nvPr/>
        </p:nvSpPr>
        <p:spPr>
          <a:xfrm>
            <a:off x="822960" y="1554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one operating-system process</a:t>
            </a:r>
            <a:endParaRPr lang="en-US" sz="1700" dirty="0"/>
          </a:p>
        </p:txBody>
      </p:sp>
      <p:sp>
        <p:nvSpPr>
          <p:cNvPr id="5" name="rect-34"/>
          <p:cNvSpPr/>
          <p:nvPr/>
        </p:nvSpPr>
        <p:spPr>
          <a:xfrm>
            <a:off x="822960" y="2103120"/>
            <a:ext cx="2011680" cy="100584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-35"/>
          <p:cNvSpPr txBox="1"/>
          <p:nvPr/>
        </p:nvSpPr>
        <p:spPr>
          <a:xfrm>
            <a:off x="91440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code</a:t>
            </a:r>
            <a:endParaRPr lang="en-US" sz="1600" dirty="0"/>
          </a:p>
        </p:txBody>
      </p:sp>
      <p:sp>
        <p:nvSpPr>
          <p:cNvPr id="7" name="rect-36"/>
          <p:cNvSpPr/>
          <p:nvPr/>
        </p:nvSpPr>
        <p:spPr>
          <a:xfrm>
            <a:off x="3108960" y="210312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-37"/>
          <p:cNvSpPr txBox="1"/>
          <p:nvPr/>
        </p:nvSpPr>
        <p:spPr>
          <a:xfrm>
            <a:off x="3200400" y="2148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heap: shared data</a:t>
            </a:r>
            <a:endParaRPr lang="en-US" sz="1600" dirty="0"/>
          </a:p>
        </p:txBody>
      </p:sp>
      <p:sp>
        <p:nvSpPr>
          <p:cNvPr id="9" name="rect-38"/>
          <p:cNvSpPr/>
          <p:nvPr/>
        </p:nvSpPr>
        <p:spPr>
          <a:xfrm>
            <a:off x="822960" y="3566160"/>
            <a:ext cx="1828800" cy="173736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39"/>
          <p:cNvSpPr txBox="1"/>
          <p:nvPr/>
        </p:nvSpPr>
        <p:spPr>
          <a:xfrm>
            <a:off x="914400" y="36118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thread 1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stack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(locals)</a:t>
            </a:r>
            <a:endParaRPr lang="en-US" sz="1500" dirty="0"/>
          </a:p>
        </p:txBody>
      </p:sp>
      <p:sp>
        <p:nvSpPr>
          <p:cNvPr id="11" name="rect-40"/>
          <p:cNvSpPr/>
          <p:nvPr/>
        </p:nvSpPr>
        <p:spPr>
          <a:xfrm>
            <a:off x="2926080" y="3566160"/>
            <a:ext cx="1828800" cy="173736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41"/>
          <p:cNvSpPr txBox="1"/>
          <p:nvPr/>
        </p:nvSpPr>
        <p:spPr>
          <a:xfrm>
            <a:off x="3017520" y="36118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thread 2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stack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(locals)</a:t>
            </a:r>
            <a:endParaRPr lang="en-US" sz="1500" dirty="0"/>
          </a:p>
        </p:txBody>
      </p:sp>
      <p:sp>
        <p:nvSpPr>
          <p:cNvPr id="13" name="rect-42"/>
          <p:cNvSpPr/>
          <p:nvPr/>
        </p:nvSpPr>
        <p:spPr>
          <a:xfrm>
            <a:off x="5029200" y="3566160"/>
            <a:ext cx="1828800" cy="173736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-43"/>
          <p:cNvSpPr txBox="1"/>
          <p:nvPr/>
        </p:nvSpPr>
        <p:spPr>
          <a:xfrm>
            <a:off x="5120640" y="36118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thread 3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stack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(locals)</a:t>
            </a:r>
            <a:endParaRPr lang="en-US" sz="1500" dirty="0"/>
          </a:p>
        </p:txBody>
      </p:sp>
      <p:sp>
        <p:nvSpPr>
          <p:cNvPr id="15" name="bullets-44"/>
          <p:cNvSpPr txBox="1"/>
          <p:nvPr/>
        </p:nvSpPr>
        <p:spPr>
          <a:xfrm>
            <a:off x="7680960" y="155448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Each thread has its own stack: local variables, call frames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All threads share the heap: objects, fields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Shared data is cheap to communicate through, and easy to corrupt</a:t>
            </a:r>
            <a:endParaRPr lang="en-US" sz="1900" dirty="0"/>
          </a:p>
        </p:txBody>
      </p:sp>
      <p:sp>
        <p:nvSpPr>
          <p:cNvPr id="16" name="text-45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After Magee &amp; Kramer [MK06] §2.2; Chrome’s multi-process design: Kosaka, 2018 [Kos18]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 1: subclass Thread</a:t>
            </a:r>
            <a:endParaRPr lang="en-US" sz="3400" dirty="0"/>
          </a:p>
        </p:txBody>
      </p:sp>
      <p:sp>
        <p:nvSpPr>
          <p:cNvPr id="3" name="code-panel-46"/>
          <p:cNvSpPr/>
          <p:nvPr/>
        </p:nvSpPr>
        <p:spPr>
          <a:xfrm>
            <a:off x="548640" y="1783080"/>
            <a:ext cx="6949440" cy="3566160"/>
          </a:xfrm>
          <a:prstGeom prst="roundRect">
            <a:avLst>
              <a:gd name="adj" fmla="val 205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47"/>
          <p:cNvSpPr txBox="1"/>
          <p:nvPr/>
        </p:nvSpPr>
        <p:spPr>
          <a:xfrm>
            <a:off x="731520" y="192024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Greeter extends Thread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run()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System.out.println("hi from " + getName());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a = new Greeter();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a.start();         </a:t>
            </a:r>
            <a:pPr indent="0" marL="0">
              <a:buNone/>
            </a:pPr>
            <a:r>
              <a:rPr lang="en-US" sz="17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 thread calls run()</a:t>
            </a:r>
            <a:endParaRPr lang="en-US" sz="1700" dirty="0"/>
          </a:p>
        </p:txBody>
      </p:sp>
      <p:sp>
        <p:nvSpPr>
          <p:cNvPr id="5" name="text-48"/>
          <p:cNvSpPr txBox="1"/>
          <p:nvPr/>
        </p:nvSpPr>
        <p:spPr>
          <a:xfrm>
            <a:off x="548640" y="143560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Java</a:t>
            </a:r>
            <a:endParaRPr lang="en-US" sz="1400" dirty="0"/>
          </a:p>
        </p:txBody>
      </p:sp>
      <p:sp>
        <p:nvSpPr>
          <p:cNvPr id="6" name="bullets-49"/>
          <p:cNvSpPr txBox="1"/>
          <p:nvPr/>
        </p:nvSpPr>
        <p:spPr>
          <a:xfrm>
            <a:off x="7863840" y="1783080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 Thread runs the code in its run() method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start() creates a new thread of control, which calls run()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Drawback: Java has single inheritance, so Greeter cannot extend anything else</a:t>
            </a:r>
            <a:endParaRPr lang="en-US" sz="1900" dirty="0"/>
          </a:p>
        </p:txBody>
      </p:sp>
      <p:sp>
        <p:nvSpPr>
          <p:cNvPr id="7" name="text-50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After Magee &amp; Kramer [MK06] §2.2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Ways 2 and 3: Runnable and lambdas</a:t>
            </a:r>
            <a:endParaRPr lang="en-US" sz="3400" dirty="0"/>
          </a:p>
        </p:txBody>
      </p:sp>
      <p:sp>
        <p:nvSpPr>
          <p:cNvPr id="3" name="code-panel-51"/>
          <p:cNvSpPr/>
          <p:nvPr/>
        </p:nvSpPr>
        <p:spPr>
          <a:xfrm>
            <a:off x="548640" y="1783080"/>
            <a:ext cx="5486400" cy="256032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52"/>
          <p:cNvSpPr txBox="1"/>
          <p:nvPr/>
        </p:nvSpPr>
        <p:spPr>
          <a:xfrm>
            <a:off x="731520" y="19202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Countdown implements Runnable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run() { </a:t>
            </a:r>
            <a:pPr indent="0" marL="0">
              <a:buNone/>
            </a:pPr>
            <a:r>
              <a:rPr lang="en-US" sz="18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... */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b = new Thread(new Countdown());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b.start();</a:t>
            </a:r>
            <a:endParaRPr lang="en-US" sz="1800" dirty="0"/>
          </a:p>
        </p:txBody>
      </p:sp>
      <p:sp>
        <p:nvSpPr>
          <p:cNvPr id="5" name="text-53"/>
          <p:cNvSpPr txBox="1"/>
          <p:nvPr/>
        </p:nvSpPr>
        <p:spPr>
          <a:xfrm>
            <a:off x="548640" y="1435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Way 2: Runnable target [MK06]</a:t>
            </a:r>
            <a:endParaRPr lang="en-US" sz="1400" dirty="0"/>
          </a:p>
        </p:txBody>
      </p:sp>
      <p:sp>
        <p:nvSpPr>
          <p:cNvPr id="6" name="code-panel-54"/>
          <p:cNvSpPr/>
          <p:nvPr/>
        </p:nvSpPr>
        <p:spPr>
          <a:xfrm>
            <a:off x="6153912" y="1783080"/>
            <a:ext cx="5486400" cy="256032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-55"/>
          <p:cNvSpPr txBox="1"/>
          <p:nvPr/>
        </p:nvSpPr>
        <p:spPr>
          <a:xfrm>
            <a:off x="6336792" y="19202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c = new Thread(() -&gt;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System.out.println("hi!");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c.start();</a:t>
            </a:r>
            <a:endParaRPr lang="en-US" sz="1800" dirty="0"/>
          </a:p>
        </p:txBody>
      </p:sp>
      <p:sp>
        <p:nvSpPr>
          <p:cNvPr id="8" name="text-56"/>
          <p:cNvSpPr txBox="1"/>
          <p:nvPr/>
        </p:nvSpPr>
        <p:spPr>
          <a:xfrm>
            <a:off x="6153912" y="1435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Way 3: a lambda is a Runnable</a:t>
            </a:r>
            <a:endParaRPr lang="en-US" sz="1400" dirty="0"/>
          </a:p>
        </p:txBody>
      </p:sp>
      <p:sp>
        <p:nvSpPr>
          <p:cNvPr id="9" name="text-57"/>
          <p:cNvSpPr txBox="1"/>
          <p:nvPr/>
        </p:nvSpPr>
        <p:spPr>
          <a:xfrm>
            <a:off x="548640" y="47091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Separate the work (a Runnable) from the thread that runs it. Usually the better design.</a:t>
            </a:r>
            <a:endParaRPr lang="en-US" sz="2100" dirty="0"/>
          </a:p>
        </p:txBody>
      </p:sp>
      <p:sp>
        <p:nvSpPr>
          <p:cNvPr id="10" name="text-58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Magee &amp; Kramer [MK06] §2.2; lambdas: Java 8+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 4: virtual threads (Java 21+)</a:t>
            </a:r>
            <a:endParaRPr lang="en-US" sz="3400" dirty="0"/>
          </a:p>
        </p:txBody>
      </p:sp>
      <p:sp>
        <p:nvSpPr>
          <p:cNvPr id="3" name="code-panel-59"/>
          <p:cNvSpPr/>
          <p:nvPr/>
        </p:nvSpPr>
        <p:spPr>
          <a:xfrm>
            <a:off x="548640" y="1783080"/>
            <a:ext cx="5852160" cy="3474720"/>
          </a:xfrm>
          <a:prstGeom prst="roundRect">
            <a:avLst>
              <a:gd name="adj" fmla="val 210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60"/>
          <p:cNvSpPr txBox="1"/>
          <p:nvPr/>
        </p:nvSpPr>
        <p:spPr>
          <a:xfrm>
            <a:off x="731520" y="192024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d = Thread.ofVirtual()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.start(task);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ex = Executors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.newVirtualThreadPerTaskExecutor();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(ex)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(var r : requests)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ex.submit(() -&gt; handle(r));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</a:t>
            </a:r>
            <a:pPr indent="0" marL="0">
              <a:buNone/>
            </a:pPr>
            <a:r>
              <a:rPr lang="en-US" sz="18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close() waits for all tasks</a:t>
            </a:r>
            <a:endParaRPr lang="en-US" sz="1800" dirty="0"/>
          </a:p>
        </p:txBody>
      </p:sp>
      <p:sp>
        <p:nvSpPr>
          <p:cNvPr id="5" name="text-61"/>
          <p:cNvSpPr txBox="1"/>
          <p:nvPr/>
        </p:nvSpPr>
        <p:spPr>
          <a:xfrm>
            <a:off x="548640" y="14356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Java 21+ [JEP444]</a:t>
            </a:r>
            <a:endParaRPr lang="en-US" sz="1400" dirty="0"/>
          </a:p>
        </p:txBody>
      </p:sp>
      <p:sp>
        <p:nvSpPr>
          <p:cNvPr id="6" name="text-62"/>
          <p:cNvSpPr txBox="1"/>
          <p:nvPr/>
        </p:nvSpPr>
        <p:spPr>
          <a:xfrm>
            <a:off x="6766560" y="1325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</a:t>
            </a:r>
            <a:endParaRPr lang="en-US" sz="4400" dirty="0"/>
          </a:p>
        </p:txBody>
      </p:sp>
      <p:sp>
        <p:nvSpPr>
          <p:cNvPr id="7" name="text-63"/>
          <p:cNvSpPr txBox="1"/>
          <p:nvPr/>
        </p:nvSpPr>
        <p:spPr>
          <a:xfrm>
            <a:off x="676656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2,000 one-second waits on 2,000 virtual threads</a:t>
            </a:r>
            <a:endParaRPr lang="en-US" sz="1500" dirty="0"/>
          </a:p>
        </p:txBody>
      </p:sp>
      <p:sp>
        <p:nvSpPr>
          <p:cNvPr id="8" name="text-64"/>
          <p:cNvSpPr txBox="1"/>
          <p:nvPr/>
        </p:nvSpPr>
        <p:spPr>
          <a:xfrm>
            <a:off x="6766560" y="2743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</a:t>
            </a:r>
            <a:endParaRPr lang="en-US" sz="4400" dirty="0"/>
          </a:p>
        </p:txBody>
      </p:sp>
      <p:sp>
        <p:nvSpPr>
          <p:cNvPr id="9" name="text-65"/>
          <p:cNvSpPr txBox="1"/>
          <p:nvPr/>
        </p:nvSpPr>
        <p:spPr>
          <a:xfrm>
            <a:off x="6766560" y="3566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the same 2,000 waits on a pool of 200 platform threads</a:t>
            </a:r>
            <a:endParaRPr lang="en-US" sz="1500" dirty="0"/>
          </a:p>
        </p:txBody>
      </p:sp>
      <p:sp>
        <p:nvSpPr>
          <p:cNvPr id="10" name="text-66"/>
          <p:cNvSpPr txBox="1"/>
          <p:nvPr/>
        </p:nvSpPr>
        <p:spPr>
          <a:xfrm>
            <a:off x="6766560" y="42976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Virtual threads make waiting cheap. They do not make computing faster. (One test machine; your numbers will differ.)</a:t>
            </a:r>
            <a:endParaRPr lang="en-US" sz="1900" dirty="0"/>
          </a:p>
        </p:txBody>
      </p:sp>
      <p:sp>
        <p:nvSpPr>
          <p:cNvPr id="11" name="text-67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JEP 444: Virtual Threads, OpenJDK 2023 [JEP444]. Timings: VirtualThreadsDemo (Maven project week2…/demos) on one machine: Apple M3 Max, 16 cores, JDK 25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start() vs run(), and join()</a:t>
            </a:r>
            <a:endParaRPr lang="en-US" sz="3400" dirty="0"/>
          </a:p>
        </p:txBody>
      </p:sp>
      <p:sp>
        <p:nvSpPr>
          <p:cNvPr id="3" name="code-panel-68"/>
          <p:cNvSpPr/>
          <p:nvPr/>
        </p:nvSpPr>
        <p:spPr>
          <a:xfrm>
            <a:off x="548640" y="1783080"/>
            <a:ext cx="6766560" cy="2468880"/>
          </a:xfrm>
          <a:prstGeom prst="roundRect">
            <a:avLst>
              <a:gd name="adj" fmla="val 296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69"/>
          <p:cNvSpPr txBox="1"/>
          <p:nvPr/>
        </p:nvSpPr>
        <p:spPr>
          <a:xfrm>
            <a:off x="731520" y="192024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Thread[] all = {a, b, c, d};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(Thread t : all) t.start(); </a:t>
            </a:r>
            <a:pPr indent="0" marL="0">
              <a:buNone/>
            </a:pPr>
            <a:r>
              <a:rPr lang="en-US" sz="18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concurrent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(Thread t : all) t.join();  </a:t>
            </a:r>
            <a:pPr indent="0" marL="0">
              <a:buNone/>
            </a:pPr>
            <a:r>
              <a:rPr lang="en-US" sz="18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System.out.println("all done");</a:t>
            </a:r>
            <a:endParaRPr lang="en-US" sz="1800" dirty="0"/>
          </a:p>
        </p:txBody>
      </p:sp>
      <p:sp>
        <p:nvSpPr>
          <p:cNvPr id="5" name="text-70"/>
          <p:cNvSpPr txBox="1"/>
          <p:nvPr/>
        </p:nvSpPr>
        <p:spPr>
          <a:xfrm>
            <a:off x="548640" y="143560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Java</a:t>
            </a:r>
            <a:endParaRPr lang="en-US" sz="1400" dirty="0"/>
          </a:p>
        </p:txBody>
      </p:sp>
      <p:sp>
        <p:nvSpPr>
          <p:cNvPr id="6" name="card-71"/>
          <p:cNvSpPr/>
          <p:nvPr/>
        </p:nvSpPr>
        <p:spPr>
          <a:xfrm>
            <a:off x="7680960" y="1463040"/>
            <a:ext cx="3959352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-bg-72"/>
          <p:cNvSpPr/>
          <p:nvPr/>
        </p:nvSpPr>
        <p:spPr>
          <a:xfrm>
            <a:off x="7909560" y="1691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-73" descr="pl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0319" y="1822399"/>
            <a:ext cx="332842" cy="332842"/>
          </a:xfrm>
          <a:prstGeom prst="rect">
            <a:avLst/>
          </a:prstGeom>
        </p:spPr>
      </p:pic>
      <p:sp>
        <p:nvSpPr>
          <p:cNvPr id="9" name="text-74"/>
          <p:cNvSpPr txBox="1"/>
          <p:nvPr/>
        </p:nvSpPr>
        <p:spPr>
          <a:xfrm>
            <a:off x="8641080" y="1691640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start()</a:t>
            </a:r>
            <a:endParaRPr lang="en-US" sz="1900" dirty="0"/>
          </a:p>
        </p:txBody>
      </p:sp>
      <p:sp>
        <p:nvSpPr>
          <p:cNvPr id="10" name="text-75"/>
          <p:cNvSpPr txBox="1"/>
          <p:nvPr/>
        </p:nvSpPr>
        <p:spPr>
          <a:xfrm>
            <a:off x="7909560" y="2423160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Creates a new thread, which calls run(). Returns at once.</a:t>
            </a:r>
            <a:endParaRPr lang="en-US" sz="1600" dirty="0"/>
          </a:p>
        </p:txBody>
      </p:sp>
      <p:sp>
        <p:nvSpPr>
          <p:cNvPr id="11" name="card-76"/>
          <p:cNvSpPr/>
          <p:nvPr/>
        </p:nvSpPr>
        <p:spPr>
          <a:xfrm>
            <a:off x="7680960" y="3566160"/>
            <a:ext cx="3959352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-bg-77"/>
          <p:cNvSpPr/>
          <p:nvPr/>
        </p:nvSpPr>
        <p:spPr>
          <a:xfrm>
            <a:off x="7909560" y="379476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-78" descr="exclamation triang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319" y="3925519"/>
            <a:ext cx="332842" cy="332842"/>
          </a:xfrm>
          <a:prstGeom prst="rect">
            <a:avLst/>
          </a:prstGeom>
        </p:spPr>
      </p:pic>
      <p:sp>
        <p:nvSpPr>
          <p:cNvPr id="14" name="text-79"/>
          <p:cNvSpPr txBox="1"/>
          <p:nvPr/>
        </p:nvSpPr>
        <p:spPr>
          <a:xfrm>
            <a:off x="8641080" y="3794760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run()</a:t>
            </a:r>
            <a:endParaRPr lang="en-US" sz="1900" dirty="0"/>
          </a:p>
        </p:txBody>
      </p:sp>
      <p:sp>
        <p:nvSpPr>
          <p:cNvPr id="15" name="text-80"/>
          <p:cNvSpPr txBox="1"/>
          <p:nvPr/>
        </p:nvSpPr>
        <p:spPr>
          <a:xfrm>
            <a:off x="7909560" y="4526280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ordinary method call on the current thread. Nothing runs concurrently.</a:t>
            </a:r>
            <a:endParaRPr lang="en-US" sz="1600" dirty="0"/>
          </a:p>
        </p:txBody>
      </p:sp>
      <p:sp>
        <p:nvSpPr>
          <p:cNvPr id="16" name="text-81"/>
          <p:cNvSpPr txBox="1"/>
          <p:nvPr/>
        </p:nvSpPr>
        <p:spPr>
          <a:xfrm>
            <a:off x="548640" y="4572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order of output from different threads changes from run to run.</a:t>
            </a:r>
            <a:endParaRPr lang="en-US" sz="2000" dirty="0"/>
          </a:p>
        </p:txBody>
      </p:sp>
      <p:sp>
        <p:nvSpPr>
          <p:cNvPr id="17" name="text-82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Try it: exercise J1, ThreadBasics (Maven project exercises/starter)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 of a thread</a:t>
            </a:r>
            <a:endParaRPr lang="en-US" sz="3400" dirty="0"/>
          </a:p>
        </p:txBody>
      </p:sp>
      <p:pic>
        <p:nvPicPr>
          <p:cNvPr id="3" name="image-83" descr="State diagram for THREAD: 5 states, starting in CREATED. Transitions: from CREATED, action start leads to RUNNABLE; from RUNNABLE, action dispatch leads to RUNNING; from RUNNING, actions yield or timeslice lead to RUNNABLE; in RUNNING, action run leads back to RUNNING; from RUNNING, action end leads to TERMINATED; from RUNNING, actions sleep or wait lead to NON_RUNNABLE; from NON_RUNNABLE, actions timeout or notify lead to RUNNABLE. TERMINATED has no outgoing transitions (the process stops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5594"/>
            <a:ext cx="11094415" cy="2841051"/>
          </a:xfrm>
          <a:prstGeom prst="rect">
            <a:avLst/>
          </a:prstGeom>
        </p:spPr>
      </p:pic>
      <p:sp>
        <p:nvSpPr>
          <p:cNvPr id="4" name="text-84"/>
          <p:cNvSpPr txBox="1"/>
          <p:nvPr/>
        </p:nvSpPr>
        <p:spPr>
          <a:xfrm>
            <a:off x="548640" y="5212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Created, then alive (running, ready, or waiting), then terminated. Once terminated, a thread cannot be restarted.</a:t>
            </a:r>
            <a:endParaRPr lang="en-US" sz="1900" dirty="0"/>
          </a:p>
        </p:txBody>
      </p:sp>
      <p:sp>
        <p:nvSpPr>
          <p:cNvPr id="5" name="text-85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Thread life cycle after Magee &amp; Kramer [MK06] §2.2; drawn by LTSA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Java’s Thread.State</a:t>
            </a:r>
            <a:endParaRPr lang="en-US" sz="3400" dirty="0"/>
          </a:p>
        </p:txBody>
      </p:sp>
      <p:graphicFrame>
        <p:nvGraphicFramePr>
          <p:cNvPr id="15" name="table-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94960"/>
                <a:gridCol w="29535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Thread.State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In the diagram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created, not yet started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CREATED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RUNNABLE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running, or ready to run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RUNNABLE + RUNNING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BLOCKED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waiting to enter a synchronized block (Week 4)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NON_RUNNABLE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WAITING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waiting with no time limit: join(), wait()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NON_RUNNABLE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TIMED_WAITING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waiting with a limit: sleep(ms), join(ms)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NON_RUNNABLE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TERMINATED</a:t>
                      </a:r>
                      <a:endParaRPr lang="en-US" sz="1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run() has returned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TERMINATED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-87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Java SE 21 API, java.lang.Thread.State [JDK-Thread]; diagram after [MK06]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sleep, join and interrupt</a:t>
            </a:r>
            <a:endParaRPr lang="en-US" sz="3400" dirty="0"/>
          </a:p>
        </p:txBody>
      </p:sp>
      <p:sp>
        <p:nvSpPr>
          <p:cNvPr id="3" name="card-88"/>
          <p:cNvSpPr/>
          <p:nvPr/>
        </p:nvSpPr>
        <p:spPr>
          <a:xfrm>
            <a:off x="548640" y="1463040"/>
            <a:ext cx="352044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89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-90" descr="be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22399"/>
            <a:ext cx="332842" cy="332842"/>
          </a:xfrm>
          <a:prstGeom prst="rect">
            <a:avLst/>
          </a:prstGeom>
        </p:spPr>
      </p:pic>
      <p:sp>
        <p:nvSpPr>
          <p:cNvPr id="6" name="text-91"/>
          <p:cNvSpPr txBox="1"/>
          <p:nvPr/>
        </p:nvSpPr>
        <p:spPr>
          <a:xfrm>
            <a:off x="15087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Thread.sleep(ms)</a:t>
            </a:r>
            <a:endParaRPr lang="en-US" sz="1800" dirty="0"/>
          </a:p>
        </p:txBody>
      </p:sp>
      <p:sp>
        <p:nvSpPr>
          <p:cNvPr id="7" name="text-92"/>
          <p:cNvSpPr txBox="1"/>
          <p:nvPr/>
        </p:nvSpPr>
        <p:spPr>
          <a:xfrm>
            <a:off x="777240" y="24231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Pause the current thread for a while. It waits, so it uses no CPU.</a:t>
            </a:r>
            <a:endParaRPr lang="en-US" sz="1700" dirty="0"/>
          </a:p>
        </p:txBody>
      </p:sp>
      <p:sp>
        <p:nvSpPr>
          <p:cNvPr id="8" name="card-93"/>
          <p:cNvSpPr/>
          <p:nvPr/>
        </p:nvSpPr>
        <p:spPr>
          <a:xfrm>
            <a:off x="4297680" y="1463040"/>
            <a:ext cx="352044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94"/>
          <p:cNvSpPr/>
          <p:nvPr/>
        </p:nvSpPr>
        <p:spPr>
          <a:xfrm>
            <a:off x="4526280" y="1691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95" descr="lin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1822399"/>
            <a:ext cx="332842" cy="332842"/>
          </a:xfrm>
          <a:prstGeom prst="rect">
            <a:avLst/>
          </a:prstGeom>
        </p:spPr>
      </p:pic>
      <p:sp>
        <p:nvSpPr>
          <p:cNvPr id="11" name="text-96"/>
          <p:cNvSpPr txBox="1"/>
          <p:nvPr/>
        </p:nvSpPr>
        <p:spPr>
          <a:xfrm>
            <a:off x="525780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t.join()</a:t>
            </a:r>
            <a:endParaRPr lang="en-US" sz="1800" dirty="0"/>
          </a:p>
        </p:txBody>
      </p:sp>
      <p:sp>
        <p:nvSpPr>
          <p:cNvPr id="12" name="text-97"/>
          <p:cNvSpPr txBox="1"/>
          <p:nvPr/>
        </p:nvSpPr>
        <p:spPr>
          <a:xfrm>
            <a:off x="4526280" y="24231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Wait until thread t has terminated.</a:t>
            </a:r>
            <a:endParaRPr lang="en-US" sz="1700" dirty="0"/>
          </a:p>
        </p:txBody>
      </p:sp>
      <p:sp>
        <p:nvSpPr>
          <p:cNvPr id="13" name="card-98"/>
          <p:cNvSpPr/>
          <p:nvPr/>
        </p:nvSpPr>
        <p:spPr>
          <a:xfrm>
            <a:off x="8046720" y="1463040"/>
            <a:ext cx="352044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99"/>
          <p:cNvSpPr/>
          <p:nvPr/>
        </p:nvSpPr>
        <p:spPr>
          <a:xfrm>
            <a:off x="8275320" y="16916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-100" descr="hand pape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079" y="1822399"/>
            <a:ext cx="332842" cy="332842"/>
          </a:xfrm>
          <a:prstGeom prst="rect">
            <a:avLst/>
          </a:prstGeom>
        </p:spPr>
      </p:pic>
      <p:sp>
        <p:nvSpPr>
          <p:cNvPr id="16" name="text-101"/>
          <p:cNvSpPr txBox="1"/>
          <p:nvPr/>
        </p:nvSpPr>
        <p:spPr>
          <a:xfrm>
            <a:off x="900684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t.interrupt()</a:t>
            </a:r>
            <a:endParaRPr lang="en-US" sz="1800" dirty="0"/>
          </a:p>
        </p:txBody>
      </p:sp>
      <p:sp>
        <p:nvSpPr>
          <p:cNvPr id="17" name="text-102"/>
          <p:cNvSpPr txBox="1"/>
          <p:nvPr/>
        </p:nvSpPr>
        <p:spPr>
          <a:xfrm>
            <a:off x="8275320" y="24231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Ask t to stop. If t is sleeping or waiting, it gets an InterruptedException.</a:t>
            </a:r>
            <a:endParaRPr lang="en-US" sz="1700" dirty="0"/>
          </a:p>
        </p:txBody>
      </p:sp>
      <p:sp>
        <p:nvSpPr>
          <p:cNvPr id="18" name="code-panel-103"/>
          <p:cNvSpPr/>
          <p:nvPr/>
        </p:nvSpPr>
        <p:spPr>
          <a:xfrm>
            <a:off x="548640" y="4663440"/>
            <a:ext cx="11094415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code-104"/>
          <p:cNvSpPr txBox="1"/>
          <p:nvPr/>
        </p:nvSpPr>
        <p:spPr>
          <a:xfrm>
            <a:off x="731520" y="480060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 Thread.sleep(1000); 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(InterruptedException e) { </a:t>
            </a:r>
            <a:pPr indent="0" marL="0">
              <a:buNone/>
            </a:pPr>
            <a:r>
              <a:rPr lang="en-US" sz="17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someone asked us to stop: clean up, return */ }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diagram to code: the countdown</a:t>
            </a:r>
            <a:endParaRPr lang="en-US" sz="3400" dirty="0"/>
          </a:p>
        </p:txBody>
      </p:sp>
      <p:sp>
        <p:nvSpPr>
          <p:cNvPr id="3" name="bullets-105"/>
          <p:cNvSpPr txBox="1"/>
          <p:nvPr/>
        </p:nvSpPr>
        <p:spPr>
          <a:xfrm>
            <a:off x="548640" y="146304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Diagram → code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start: create and start the thread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“i LEFT” states: a while loop with i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tick: sleep 1 s, then i--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beep → DONE: return from run()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stop → DONE: interrupt(); catch it and return</a:t>
            </a:r>
            <a:endParaRPr lang="en-US" sz="1700" dirty="0"/>
          </a:p>
        </p:txBody>
      </p:sp>
      <p:sp>
        <p:nvSpPr>
          <p:cNvPr id="4" name="code-panel-106"/>
          <p:cNvSpPr/>
          <p:nvPr/>
        </p:nvSpPr>
        <p:spPr>
          <a:xfrm>
            <a:off x="4846320" y="1783080"/>
            <a:ext cx="6793992" cy="4069080"/>
          </a:xfrm>
          <a:prstGeom prst="roundRect">
            <a:avLst>
              <a:gd name="adj" fmla="val 17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code-107"/>
          <p:cNvSpPr txBox="1"/>
          <p:nvPr/>
        </p:nvSpPr>
        <p:spPr>
          <a:xfrm>
            <a:off x="5029200" y="1920240"/>
            <a:ext cx="642823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run()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 = n;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(i &gt; 0) {             </a:t>
            </a:r>
            <a:pPr indent="0" marL="0">
              <a:buNone/>
            </a:pPr>
            <a:r>
              <a:rPr lang="en-US" sz="15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tick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tick(i); Thread.sleep(1000); i--;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(i == 0) {            </a:t>
            </a:r>
            <a:pPr indent="0" marL="0">
              <a:buNone/>
            </a:pPr>
            <a:r>
              <a:rPr lang="en-US" sz="15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beep -&gt; DONE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beep(); return;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(InterruptedException e) {  </a:t>
            </a:r>
            <a:pPr indent="0" marL="0">
              <a:buNone/>
            </a:pPr>
            <a:r>
              <a:rPr lang="en-US" sz="1500" dirty="0">
                <a:solidFill>
                  <a:srgbClr val="8FC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System.out.println("stopped at " + i);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-108"/>
          <p:cNvSpPr txBox="1"/>
          <p:nvPr/>
        </p:nvSpPr>
        <p:spPr>
          <a:xfrm>
            <a:off x="4846320" y="1435608"/>
            <a:ext cx="6793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Java: CountdownTimer.run()</a:t>
            </a:r>
            <a:endParaRPr lang="en-US" sz="1400" dirty="0"/>
          </a:p>
        </p:txBody>
      </p:sp>
      <p:sp>
        <p:nvSpPr>
          <p:cNvPr id="7" name="text-109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After the COUNTDOWN example in [MK06] ch. 2; console version of the book’s CountDown applet: CountdownTimer in week2…/demos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week’s exercises (about 60 minutes)</a:t>
            </a:r>
            <a:endParaRPr lang="en-US" sz="3400" dirty="0"/>
          </a:p>
        </p:txBody>
      </p:sp>
      <p:graphicFrame>
        <p:nvGraphicFramePr>
          <p:cNvPr id="18" name="table-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675120"/>
                <a:gridCol w="1737360"/>
                <a:gridCol w="17647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Kind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 music player’s state diagram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paper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 min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J1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Four ways to start a thread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Java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J2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Watching a thread’s life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Java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J3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From state diagram to thread: auto-lock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Java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-111"/>
          <p:cNvSpPr txBox="1"/>
          <p:nvPr/>
        </p:nvSpPr>
        <p:spPr>
          <a:xfrm>
            <a:off x="548640" y="4572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Finished early? Optional extras: removing the joins in J1, the state-diagram-in-Java challenge (exercises/challenge), and the virtual-threads comparison.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3" name="bullets-112"/>
          <p:cNvSpPr txBox="1"/>
          <p:nvPr/>
        </p:nvSpPr>
        <p:spPr>
          <a:xfrm>
            <a:off x="548640" y="14630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Processes</a:t>
            </a:r>
            <a:endParaRPr lang="en-US" sz="21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accent5"/>
                </a:solidFill>
              </a:rPr>
              <a:t>A sequence of actions, drawn as a state diagram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Java threads</a:t>
            </a:r>
            <a:endParaRPr lang="en-US" sz="21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accent5"/>
                </a:solidFill>
              </a:rPr>
              <a:t>Thread, Runnable, lambda, virtual thread</a:t>
            </a:r>
            <a:endParaRPr lang="en-US" sz="21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accent5"/>
                </a:solidFill>
              </a:rPr>
              <a:t>start, join, sleep, interrupt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Diagram → code</a:t>
            </a:r>
            <a:endParaRPr lang="en-US" sz="21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accent5"/>
                </a:solidFill>
              </a:rPr>
              <a:t>States become a loop; actions become steps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35040" y="1463040"/>
            <a:ext cx="5605272" cy="3291840"/>
          </a:xfrm>
          <a:prstGeom prst="roundRect">
            <a:avLst>
              <a:gd name="adj" fmla="val 277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-113"/>
          <p:cNvSpPr txBox="1"/>
          <p:nvPr/>
        </p:nvSpPr>
        <p:spPr>
          <a:xfrm>
            <a:off x="6309360" y="169164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Quick check</a:t>
            </a:r>
            <a:endParaRPr lang="en-US" sz="18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1. What is the difference between t.start() and t.run()?</a:t>
            </a:r>
            <a:endParaRPr lang="en-US" sz="18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2. Which Thread.State does a thread have during Thread.sleep(1000)?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text-114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Magee, J. &amp; Kramer, J. (2006). Concurrency: State Models &amp; Java Programs, 2nd ed. Wiley, ch. 2, and lecture slides. doc.ic.ac.uk/~jnm/book  [MK06]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Pressler, R. &amp; Bateman, A. (2023). JEP 444: Virtual Threads. openjdk.org/jeps/444  [JEP444]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Oracle. Java SE 21 API: java.lang.Thread and Thread.State  [JDK-Thread]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Oracle. The Java Tutorials: Concurrency. docs.oracle.com/javase/tutorial/essential/concurrency  [JTut]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Kosaka, M. (2018). Inside look at modern web browser (part 1). Chrome for Developers  [Kos18]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Goetz, B. et al. (2006). Java Concurrency in Practice. Addison-Wesley  [Goe06]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currency Course">
  <a:themeElements>
    <a:clrScheme name="Concurrency Course">
      <a:dk1>
        <a:srgbClr val="1B2A41"/>
      </a:dk1>
      <a:lt1>
        <a:srgbClr val="FFFFFF"/>
      </a:lt1>
      <a:dk2>
        <a:srgbClr val="0E7C7B"/>
      </a:dk2>
      <a:lt2>
        <a:srgbClr val="EEF3F6"/>
      </a:lt2>
      <a:accent1>
        <a:srgbClr val="0E7C7B"/>
      </a:accent1>
      <a:accent2>
        <a:srgbClr val="F4A259"/>
      </a:accent2>
      <a:accent3>
        <a:srgbClr val="BC4B51"/>
      </a:accent3>
      <a:accent4>
        <a:srgbClr val="3D5A80"/>
      </a:accent4>
      <a:accent5>
        <a:srgbClr val="5B6B7F"/>
      </a:accent5>
      <a:accent6>
        <a:srgbClr val="D7EFEE"/>
      </a:accent6>
      <a:hlink>
        <a:srgbClr val="0E7C7B"/>
      </a:hlink>
      <a:folHlink>
        <a:srgbClr val="3D5A80"/>
      </a:folHlink>
    </a:clrScheme>
    <a:fontScheme name="Concurrency Cour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II · Concurrency · Week 2: Processes &amp; Threads</dc:title>
  <dc:subject>PptxGenJS Presentation</dc:subject>
  <dc:creator>CS II</dc:creator>
  <cp:lastModifiedBy>CS II</cp:lastModifiedBy>
  <cp:revision>1</cp:revision>
  <dcterms:created xsi:type="dcterms:W3CDTF">2026-10-27T14:29:08Z</dcterms:created>
  <dcterms:modified xsi:type="dcterms:W3CDTF">2026-10-27T14:29:08Z</dcterms:modified>
</cp:coreProperties>
</file>